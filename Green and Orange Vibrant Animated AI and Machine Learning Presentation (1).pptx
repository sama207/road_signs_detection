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Cheddar" charset="1" panose="00000000000000000000"/>
      <p:regular r:id="rId28"/>
    </p:embeddedFont>
    <p:embeddedFont>
      <p:font typeface="Telegraf Bold" charset="1" panose="00000800000000000000"/>
      <p:regular r:id="rId29"/>
    </p:embeddedFont>
    <p:embeddedFont>
      <p:font typeface="Telegraf Medium" charset="1" panose="00000600000000000000"/>
      <p:regular r:id="rId30"/>
    </p:embeddedFont>
    <p:embeddedFont>
      <p:font typeface="Telegraf" charset="1" panose="000005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EF4F3"/>
        </a:solidFill>
      </p:bgPr>
    </p:bg>
    <p:spTree>
      <p:nvGrpSpPr>
        <p:cNvPr id="1" name=""/>
        <p:cNvGrpSpPr/>
        <p:nvPr/>
      </p:nvGrpSpPr>
      <p:grpSpPr>
        <a:xfrm>
          <a:off x="0" y="0"/>
          <a:ext cx="0" cy="0"/>
          <a:chOff x="0" y="0"/>
          <a:chExt cx="0" cy="0"/>
        </a:xfrm>
      </p:grpSpPr>
      <p:sp>
        <p:nvSpPr>
          <p:cNvPr name="Freeform 2" id="2"/>
          <p:cNvSpPr/>
          <p:nvPr/>
        </p:nvSpPr>
        <p:spPr>
          <a:xfrm flipH="false" flipV="false" rot="0">
            <a:off x="5338725" y="2584299"/>
            <a:ext cx="1260008" cy="1653948"/>
          </a:xfrm>
          <a:custGeom>
            <a:avLst/>
            <a:gdLst/>
            <a:ahLst/>
            <a:cxnLst/>
            <a:rect r="r" b="b" t="t" l="l"/>
            <a:pathLst>
              <a:path h="1653948" w="1260008">
                <a:moveTo>
                  <a:pt x="0" y="0"/>
                </a:moveTo>
                <a:lnTo>
                  <a:pt x="1260008" y="0"/>
                </a:lnTo>
                <a:lnTo>
                  <a:pt x="1260008" y="1653948"/>
                </a:lnTo>
                <a:lnTo>
                  <a:pt x="0" y="16539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8565002" y="1834399"/>
            <a:ext cx="8694298" cy="2562295"/>
          </a:xfrm>
          <a:prstGeom prst="rect">
            <a:avLst/>
          </a:prstGeom>
        </p:spPr>
        <p:txBody>
          <a:bodyPr anchor="t" rtlCol="false" tIns="0" lIns="0" bIns="0" rIns="0">
            <a:spAutoFit/>
          </a:bodyPr>
          <a:lstStyle/>
          <a:p>
            <a:pPr algn="l">
              <a:lnSpc>
                <a:spcPts val="8999"/>
              </a:lnSpc>
            </a:pPr>
            <a:r>
              <a:rPr lang="en-US" sz="9999">
                <a:solidFill>
                  <a:srgbClr val="290606"/>
                </a:solidFill>
                <a:latin typeface="Cheddar"/>
                <a:ea typeface="Cheddar"/>
                <a:cs typeface="Cheddar"/>
                <a:sym typeface="Cheddar"/>
              </a:rPr>
              <a:t>ROAD SIGNS DETECTION</a:t>
            </a:r>
          </a:p>
        </p:txBody>
      </p:sp>
      <p:sp>
        <p:nvSpPr>
          <p:cNvPr name="TextBox 4" id="4"/>
          <p:cNvSpPr txBox="true"/>
          <p:nvPr/>
        </p:nvSpPr>
        <p:spPr>
          <a:xfrm rot="0">
            <a:off x="8565002" y="5380834"/>
            <a:ext cx="8694298" cy="857249"/>
          </a:xfrm>
          <a:prstGeom prst="rect">
            <a:avLst/>
          </a:prstGeom>
        </p:spPr>
        <p:txBody>
          <a:bodyPr anchor="t" rtlCol="false" tIns="0" lIns="0" bIns="0" rIns="0">
            <a:spAutoFit/>
          </a:bodyPr>
          <a:lstStyle/>
          <a:p>
            <a:pPr algn="l">
              <a:lnSpc>
                <a:spcPts val="5999"/>
              </a:lnSpc>
            </a:pPr>
            <a:r>
              <a:rPr lang="en-US" sz="5999" b="true">
                <a:solidFill>
                  <a:srgbClr val="211C2D"/>
                </a:solidFill>
                <a:latin typeface="Telegraf Bold"/>
                <a:ea typeface="Telegraf Bold"/>
                <a:cs typeface="Telegraf Bold"/>
                <a:sym typeface="Telegraf Bold"/>
              </a:rPr>
              <a:t>PRESENTATION</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EEF4F3"/>
        </a:solidFill>
      </p:bgPr>
    </p:bg>
    <p:spTree>
      <p:nvGrpSpPr>
        <p:cNvPr id="1" name=""/>
        <p:cNvGrpSpPr/>
        <p:nvPr/>
      </p:nvGrpSpPr>
      <p:grpSpPr>
        <a:xfrm>
          <a:off x="0" y="0"/>
          <a:ext cx="0" cy="0"/>
          <a:chOff x="0" y="0"/>
          <a:chExt cx="0" cy="0"/>
        </a:xfrm>
      </p:grpSpPr>
      <p:sp>
        <p:nvSpPr>
          <p:cNvPr name="TextBox 2" id="2"/>
          <p:cNvSpPr txBox="true"/>
          <p:nvPr/>
        </p:nvSpPr>
        <p:spPr>
          <a:xfrm rot="0">
            <a:off x="8216606" y="3500979"/>
            <a:ext cx="9622590" cy="3934531"/>
          </a:xfrm>
          <a:prstGeom prst="rect">
            <a:avLst/>
          </a:prstGeom>
        </p:spPr>
        <p:txBody>
          <a:bodyPr anchor="t" rtlCol="false" tIns="0" lIns="0" bIns="0" rIns="0">
            <a:spAutoFit/>
          </a:bodyPr>
          <a:lstStyle/>
          <a:p>
            <a:pPr algn="l" marL="604519" indent="-302260" lvl="1">
              <a:lnSpc>
                <a:spcPts val="4479"/>
              </a:lnSpc>
              <a:buFont typeface="Arial"/>
              <a:buChar char="•"/>
            </a:pPr>
            <a:r>
              <a:rPr lang="en-US" b="true" sz="2799">
                <a:solidFill>
                  <a:srgbClr val="290606"/>
                </a:solidFill>
                <a:latin typeface="Telegraf Medium"/>
                <a:ea typeface="Telegraf Medium"/>
                <a:cs typeface="Telegraf Medium"/>
                <a:sym typeface="Telegraf Medium"/>
              </a:rPr>
              <a:t>Introduction</a:t>
            </a:r>
          </a:p>
          <a:p>
            <a:pPr algn="l" marL="604519" indent="-302260" lvl="1">
              <a:lnSpc>
                <a:spcPts val="4479"/>
              </a:lnSpc>
              <a:buFont typeface="Arial"/>
              <a:buChar char="•"/>
            </a:pPr>
            <a:r>
              <a:rPr lang="en-US" b="true" sz="2799">
                <a:solidFill>
                  <a:srgbClr val="290606"/>
                </a:solidFill>
                <a:latin typeface="Telegraf Medium"/>
                <a:ea typeface="Telegraf Medium"/>
                <a:cs typeface="Telegraf Medium"/>
                <a:sym typeface="Telegraf Medium"/>
              </a:rPr>
              <a:t>Methodology</a:t>
            </a:r>
          </a:p>
          <a:p>
            <a:pPr algn="l" marL="604519" indent="-302260" lvl="1">
              <a:lnSpc>
                <a:spcPts val="4479"/>
              </a:lnSpc>
              <a:buFont typeface="Arial"/>
              <a:buChar char="•"/>
            </a:pPr>
            <a:r>
              <a:rPr lang="en-US" b="true" sz="2799">
                <a:solidFill>
                  <a:srgbClr val="290606"/>
                </a:solidFill>
                <a:latin typeface="Telegraf Medium"/>
                <a:ea typeface="Telegraf Medium"/>
                <a:cs typeface="Telegraf Medium"/>
                <a:sym typeface="Telegraf Medium"/>
              </a:rPr>
              <a:t>Dataset Overview</a:t>
            </a:r>
          </a:p>
          <a:p>
            <a:pPr algn="l" marL="604519" indent="-302260" lvl="1">
              <a:lnSpc>
                <a:spcPts val="4479"/>
              </a:lnSpc>
              <a:buFont typeface="Arial"/>
              <a:buChar char="•"/>
            </a:pPr>
            <a:r>
              <a:rPr lang="en-US" b="true" sz="2799">
                <a:solidFill>
                  <a:srgbClr val="290606"/>
                </a:solidFill>
                <a:latin typeface="Telegraf Medium"/>
                <a:ea typeface="Telegraf Medium"/>
                <a:cs typeface="Telegraf Medium"/>
                <a:sym typeface="Telegraf Medium"/>
              </a:rPr>
              <a:t>Data Preprocessing Steps</a:t>
            </a:r>
          </a:p>
          <a:p>
            <a:pPr algn="l" marL="604519" indent="-302260" lvl="1">
              <a:lnSpc>
                <a:spcPts val="4479"/>
              </a:lnSpc>
              <a:buFont typeface="Arial"/>
              <a:buChar char="•"/>
            </a:pPr>
            <a:r>
              <a:rPr lang="en-US" b="true" sz="2799">
                <a:solidFill>
                  <a:srgbClr val="290606"/>
                </a:solidFill>
                <a:latin typeface="Telegraf Medium"/>
                <a:ea typeface="Telegraf Medium"/>
                <a:cs typeface="Telegraf Medium"/>
                <a:sym typeface="Telegraf Medium"/>
              </a:rPr>
              <a:t>Machine Learning Algorithms Used</a:t>
            </a:r>
          </a:p>
          <a:p>
            <a:pPr algn="l" marL="604519" indent="-302260" lvl="1">
              <a:lnSpc>
                <a:spcPts val="4479"/>
              </a:lnSpc>
              <a:buFont typeface="Arial"/>
              <a:buChar char="•"/>
            </a:pPr>
            <a:r>
              <a:rPr lang="en-US" b="true" sz="2799">
                <a:solidFill>
                  <a:srgbClr val="290606"/>
                </a:solidFill>
                <a:latin typeface="Telegraf Medium"/>
                <a:ea typeface="Telegraf Medium"/>
                <a:cs typeface="Telegraf Medium"/>
                <a:sym typeface="Telegraf Medium"/>
              </a:rPr>
              <a:t>Evaluation metrics</a:t>
            </a:r>
          </a:p>
          <a:p>
            <a:pPr algn="l" marL="604519" indent="-302260" lvl="1">
              <a:lnSpc>
                <a:spcPts val="4479"/>
              </a:lnSpc>
              <a:buFont typeface="Arial"/>
              <a:buChar char="•"/>
            </a:pPr>
            <a:r>
              <a:rPr lang="en-US" b="true" sz="2799">
                <a:solidFill>
                  <a:srgbClr val="290606"/>
                </a:solidFill>
                <a:latin typeface="Telegraf Medium"/>
                <a:ea typeface="Telegraf Medium"/>
                <a:cs typeface="Telegraf Medium"/>
                <a:sym typeface="Telegraf Medium"/>
              </a:rPr>
              <a:t>Model performance Results</a:t>
            </a:r>
          </a:p>
        </p:txBody>
      </p:sp>
      <p:sp>
        <p:nvSpPr>
          <p:cNvPr name="TextBox 3" id="3"/>
          <p:cNvSpPr txBox="true"/>
          <p:nvPr/>
        </p:nvSpPr>
        <p:spPr>
          <a:xfrm rot="0">
            <a:off x="8353690" y="1599154"/>
            <a:ext cx="8304328" cy="1073150"/>
          </a:xfrm>
          <a:prstGeom prst="rect">
            <a:avLst/>
          </a:prstGeom>
        </p:spPr>
        <p:txBody>
          <a:bodyPr anchor="t" rtlCol="false" tIns="0" lIns="0" bIns="0" rIns="0">
            <a:spAutoFit/>
          </a:bodyPr>
          <a:lstStyle/>
          <a:p>
            <a:pPr algn="r">
              <a:lnSpc>
                <a:spcPts val="6999"/>
              </a:lnSpc>
            </a:pPr>
            <a:r>
              <a:rPr lang="en-US" sz="6999" spc="342">
                <a:solidFill>
                  <a:srgbClr val="290606"/>
                </a:solidFill>
                <a:latin typeface="Cheddar"/>
                <a:ea typeface="Cheddar"/>
                <a:cs typeface="Cheddar"/>
                <a:sym typeface="Cheddar"/>
              </a:rPr>
              <a:t>PRESENTATION OUTLINE</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EEF4F3"/>
        </a:solidFill>
      </p:bgPr>
    </p:bg>
    <p:spTree>
      <p:nvGrpSpPr>
        <p:cNvPr id="1" name=""/>
        <p:cNvGrpSpPr/>
        <p:nvPr/>
      </p:nvGrpSpPr>
      <p:grpSpPr>
        <a:xfrm>
          <a:off x="0" y="0"/>
          <a:ext cx="0" cy="0"/>
          <a:chOff x="0" y="0"/>
          <a:chExt cx="0" cy="0"/>
        </a:xfrm>
      </p:grpSpPr>
      <p:sp>
        <p:nvSpPr>
          <p:cNvPr name="TextBox 2" id="2"/>
          <p:cNvSpPr txBox="true"/>
          <p:nvPr/>
        </p:nvSpPr>
        <p:spPr>
          <a:xfrm rot="0">
            <a:off x="245123" y="1179843"/>
            <a:ext cx="8927786" cy="1073150"/>
          </a:xfrm>
          <a:prstGeom prst="rect">
            <a:avLst/>
          </a:prstGeom>
        </p:spPr>
        <p:txBody>
          <a:bodyPr anchor="t" rtlCol="false" tIns="0" lIns="0" bIns="0" rIns="0">
            <a:spAutoFit/>
          </a:bodyPr>
          <a:lstStyle/>
          <a:p>
            <a:pPr algn="l">
              <a:lnSpc>
                <a:spcPts val="6999"/>
              </a:lnSpc>
            </a:pPr>
            <a:r>
              <a:rPr lang="en-US" sz="6999" spc="342">
                <a:solidFill>
                  <a:srgbClr val="290606"/>
                </a:solidFill>
                <a:latin typeface="Cheddar"/>
                <a:ea typeface="Cheddar"/>
                <a:cs typeface="Cheddar"/>
                <a:sym typeface="Cheddar"/>
              </a:rPr>
              <a:t>INTRODUCTION</a:t>
            </a:r>
          </a:p>
        </p:txBody>
      </p:sp>
      <p:grpSp>
        <p:nvGrpSpPr>
          <p:cNvPr name="Group 3" id="3"/>
          <p:cNvGrpSpPr/>
          <p:nvPr/>
        </p:nvGrpSpPr>
        <p:grpSpPr>
          <a:xfrm rot="0">
            <a:off x="245123" y="2751690"/>
            <a:ext cx="17797754" cy="3153570"/>
            <a:chOff x="0" y="0"/>
            <a:chExt cx="7761599" cy="1375271"/>
          </a:xfrm>
        </p:grpSpPr>
        <p:sp>
          <p:nvSpPr>
            <p:cNvPr name="Freeform 4" id="4"/>
            <p:cNvSpPr/>
            <p:nvPr/>
          </p:nvSpPr>
          <p:spPr>
            <a:xfrm flipH="false" flipV="false" rot="0">
              <a:off x="0" y="0"/>
              <a:ext cx="7761599" cy="1375271"/>
            </a:xfrm>
            <a:custGeom>
              <a:avLst/>
              <a:gdLst/>
              <a:ahLst/>
              <a:cxnLst/>
              <a:rect r="r" b="b" t="t" l="l"/>
              <a:pathLst>
                <a:path h="1375271" w="7761599">
                  <a:moveTo>
                    <a:pt x="4350" y="0"/>
                  </a:moveTo>
                  <a:lnTo>
                    <a:pt x="7757249" y="0"/>
                  </a:lnTo>
                  <a:cubicBezTo>
                    <a:pt x="7758403" y="0"/>
                    <a:pt x="7759509" y="458"/>
                    <a:pt x="7760325" y="1274"/>
                  </a:cubicBezTo>
                  <a:cubicBezTo>
                    <a:pt x="7761141" y="2090"/>
                    <a:pt x="7761599" y="3196"/>
                    <a:pt x="7761599" y="4350"/>
                  </a:cubicBezTo>
                  <a:lnTo>
                    <a:pt x="7761599" y="1370921"/>
                  </a:lnTo>
                  <a:cubicBezTo>
                    <a:pt x="7761599" y="1372075"/>
                    <a:pt x="7761141" y="1373182"/>
                    <a:pt x="7760325" y="1373997"/>
                  </a:cubicBezTo>
                  <a:cubicBezTo>
                    <a:pt x="7759509" y="1374813"/>
                    <a:pt x="7758403" y="1375271"/>
                    <a:pt x="7757249" y="1375271"/>
                  </a:cubicBezTo>
                  <a:lnTo>
                    <a:pt x="4350" y="1375271"/>
                  </a:lnTo>
                  <a:cubicBezTo>
                    <a:pt x="3196" y="1375271"/>
                    <a:pt x="2090" y="1374813"/>
                    <a:pt x="1274" y="1373997"/>
                  </a:cubicBezTo>
                  <a:cubicBezTo>
                    <a:pt x="458" y="1373182"/>
                    <a:pt x="0" y="1372075"/>
                    <a:pt x="0" y="1370921"/>
                  </a:cubicBezTo>
                  <a:lnTo>
                    <a:pt x="0" y="4350"/>
                  </a:lnTo>
                  <a:cubicBezTo>
                    <a:pt x="0" y="3196"/>
                    <a:pt x="458" y="2090"/>
                    <a:pt x="1274" y="1274"/>
                  </a:cubicBezTo>
                  <a:cubicBezTo>
                    <a:pt x="2090" y="458"/>
                    <a:pt x="3196" y="0"/>
                    <a:pt x="4350" y="0"/>
                  </a:cubicBezTo>
                  <a:close/>
                </a:path>
              </a:pathLst>
            </a:custGeom>
            <a:solidFill>
              <a:srgbClr val="02B676">
                <a:alpha val="69804"/>
              </a:srgbClr>
            </a:solidFill>
          </p:spPr>
        </p:sp>
        <p:sp>
          <p:nvSpPr>
            <p:cNvPr name="TextBox 5" id="5"/>
            <p:cNvSpPr txBox="true"/>
            <p:nvPr/>
          </p:nvSpPr>
          <p:spPr>
            <a:xfrm>
              <a:off x="0" y="-38100"/>
              <a:ext cx="7761599" cy="1413371"/>
            </a:xfrm>
            <a:prstGeom prst="rect">
              <a:avLst/>
            </a:prstGeom>
          </p:spPr>
          <p:txBody>
            <a:bodyPr anchor="ctr" rtlCol="false" tIns="80497" lIns="80497" bIns="80497" rIns="80497"/>
            <a:lstStyle/>
            <a:p>
              <a:pPr algn="ctr">
                <a:lnSpc>
                  <a:spcPts val="3599"/>
                </a:lnSpc>
              </a:pPr>
            </a:p>
          </p:txBody>
        </p:sp>
      </p:grpSp>
      <p:sp>
        <p:nvSpPr>
          <p:cNvPr name="TextBox 6" id="6"/>
          <p:cNvSpPr txBox="true"/>
          <p:nvPr/>
        </p:nvSpPr>
        <p:spPr>
          <a:xfrm rot="0">
            <a:off x="417459" y="3156976"/>
            <a:ext cx="17625417" cy="2314422"/>
          </a:xfrm>
          <a:prstGeom prst="rect">
            <a:avLst/>
          </a:prstGeom>
        </p:spPr>
        <p:txBody>
          <a:bodyPr anchor="t" rtlCol="false" tIns="0" lIns="0" bIns="0" rIns="0">
            <a:spAutoFit/>
          </a:bodyPr>
          <a:lstStyle/>
          <a:p>
            <a:pPr algn="l" marL="0" indent="0" lvl="0">
              <a:lnSpc>
                <a:spcPts val="3632"/>
              </a:lnSpc>
              <a:spcBef>
                <a:spcPct val="0"/>
              </a:spcBef>
            </a:pPr>
            <a:r>
              <a:rPr lang="en-US" sz="3027" spc="148">
                <a:solidFill>
                  <a:srgbClr val="290606"/>
                </a:solidFill>
                <a:latin typeface="Telegraf"/>
                <a:ea typeface="Telegraf"/>
                <a:cs typeface="Telegraf"/>
                <a:sym typeface="Telegraf"/>
              </a:rPr>
              <a:t>The Road Signs Detection System aims to enhance autonomous driving and smart city infrastructure by accurately identifying road signs from images. The motivation stems from the need for real-time, reliable detection of traffic signs to ensure road safety and assist driver decision-making. Traditional object detection methods often struggle with visually similar signs, particularly directional ones.</a:t>
            </a:r>
          </a:p>
        </p:txBody>
      </p:sp>
      <p:grpSp>
        <p:nvGrpSpPr>
          <p:cNvPr name="Group 7" id="7"/>
          <p:cNvGrpSpPr/>
          <p:nvPr/>
        </p:nvGrpSpPr>
        <p:grpSpPr>
          <a:xfrm rot="0">
            <a:off x="245123" y="6197205"/>
            <a:ext cx="17797754" cy="3061095"/>
            <a:chOff x="0" y="0"/>
            <a:chExt cx="7761599" cy="1334943"/>
          </a:xfrm>
        </p:grpSpPr>
        <p:sp>
          <p:nvSpPr>
            <p:cNvPr name="Freeform 8" id="8"/>
            <p:cNvSpPr/>
            <p:nvPr/>
          </p:nvSpPr>
          <p:spPr>
            <a:xfrm flipH="false" flipV="false" rot="0">
              <a:off x="0" y="0"/>
              <a:ext cx="7761599" cy="1334943"/>
            </a:xfrm>
            <a:custGeom>
              <a:avLst/>
              <a:gdLst/>
              <a:ahLst/>
              <a:cxnLst/>
              <a:rect r="r" b="b" t="t" l="l"/>
              <a:pathLst>
                <a:path h="1334943" w="7761599">
                  <a:moveTo>
                    <a:pt x="4350" y="0"/>
                  </a:moveTo>
                  <a:lnTo>
                    <a:pt x="7757249" y="0"/>
                  </a:lnTo>
                  <a:cubicBezTo>
                    <a:pt x="7758403" y="0"/>
                    <a:pt x="7759509" y="458"/>
                    <a:pt x="7760325" y="1274"/>
                  </a:cubicBezTo>
                  <a:cubicBezTo>
                    <a:pt x="7761141" y="2090"/>
                    <a:pt x="7761599" y="3196"/>
                    <a:pt x="7761599" y="4350"/>
                  </a:cubicBezTo>
                  <a:lnTo>
                    <a:pt x="7761599" y="1330593"/>
                  </a:lnTo>
                  <a:cubicBezTo>
                    <a:pt x="7761599" y="1331747"/>
                    <a:pt x="7761141" y="1332853"/>
                    <a:pt x="7760325" y="1333669"/>
                  </a:cubicBezTo>
                  <a:cubicBezTo>
                    <a:pt x="7759509" y="1334485"/>
                    <a:pt x="7758403" y="1334943"/>
                    <a:pt x="7757249" y="1334943"/>
                  </a:cubicBezTo>
                  <a:lnTo>
                    <a:pt x="4350" y="1334943"/>
                  </a:lnTo>
                  <a:cubicBezTo>
                    <a:pt x="3196" y="1334943"/>
                    <a:pt x="2090" y="1334485"/>
                    <a:pt x="1274" y="1333669"/>
                  </a:cubicBezTo>
                  <a:cubicBezTo>
                    <a:pt x="458" y="1332853"/>
                    <a:pt x="0" y="1331747"/>
                    <a:pt x="0" y="1330593"/>
                  </a:cubicBezTo>
                  <a:lnTo>
                    <a:pt x="0" y="4350"/>
                  </a:lnTo>
                  <a:cubicBezTo>
                    <a:pt x="0" y="3196"/>
                    <a:pt x="458" y="2090"/>
                    <a:pt x="1274" y="1274"/>
                  </a:cubicBezTo>
                  <a:cubicBezTo>
                    <a:pt x="2090" y="458"/>
                    <a:pt x="3196" y="0"/>
                    <a:pt x="4350" y="0"/>
                  </a:cubicBezTo>
                  <a:close/>
                </a:path>
              </a:pathLst>
            </a:custGeom>
            <a:solidFill>
              <a:srgbClr val="02B676">
                <a:alpha val="69804"/>
              </a:srgbClr>
            </a:solidFill>
            <a:ln cap="sq">
              <a:noFill/>
              <a:prstDash val="solid"/>
              <a:miter/>
            </a:ln>
          </p:spPr>
        </p:sp>
        <p:sp>
          <p:nvSpPr>
            <p:cNvPr name="TextBox 9" id="9"/>
            <p:cNvSpPr txBox="true"/>
            <p:nvPr/>
          </p:nvSpPr>
          <p:spPr>
            <a:xfrm>
              <a:off x="0" y="-38100"/>
              <a:ext cx="7761599" cy="1373043"/>
            </a:xfrm>
            <a:prstGeom prst="rect">
              <a:avLst/>
            </a:prstGeom>
          </p:spPr>
          <p:txBody>
            <a:bodyPr anchor="ctr" rtlCol="false" tIns="80497" lIns="80497" bIns="80497" rIns="80497"/>
            <a:lstStyle/>
            <a:p>
              <a:pPr algn="ctr" marL="0" indent="0" lvl="0">
                <a:lnSpc>
                  <a:spcPts val="3599"/>
                </a:lnSpc>
                <a:spcBef>
                  <a:spcPct val="0"/>
                </a:spcBef>
              </a:pPr>
            </a:p>
          </p:txBody>
        </p:sp>
      </p:grpSp>
      <p:sp>
        <p:nvSpPr>
          <p:cNvPr name="TextBox 10" id="10"/>
          <p:cNvSpPr txBox="true"/>
          <p:nvPr/>
        </p:nvSpPr>
        <p:spPr>
          <a:xfrm rot="0">
            <a:off x="417459" y="6556254"/>
            <a:ext cx="17797754" cy="2314422"/>
          </a:xfrm>
          <a:prstGeom prst="rect">
            <a:avLst/>
          </a:prstGeom>
        </p:spPr>
        <p:txBody>
          <a:bodyPr anchor="t" rtlCol="false" tIns="0" lIns="0" bIns="0" rIns="0">
            <a:spAutoFit/>
          </a:bodyPr>
          <a:lstStyle/>
          <a:p>
            <a:pPr algn="l" marL="0" indent="0" lvl="0">
              <a:lnSpc>
                <a:spcPts val="3632"/>
              </a:lnSpc>
              <a:spcBef>
                <a:spcPct val="0"/>
              </a:spcBef>
            </a:pPr>
            <a:r>
              <a:rPr lang="en-US" sz="3027" spc="148" strike="noStrike" u="none">
                <a:solidFill>
                  <a:srgbClr val="290606"/>
                </a:solidFill>
                <a:latin typeface="Telegraf"/>
                <a:ea typeface="Telegraf"/>
                <a:cs typeface="Telegraf"/>
                <a:sym typeface="Telegraf"/>
              </a:rPr>
              <a:t>This project builds on advancements in deep learning, particularly YOLO (You Only Look Once) for object detection and Convolutional Neural Networks (CNNs) for image classification. By combining these two models, we enhance both the localization and identification stages in the detection pipeline. The hybrid method significantly improves classification accuracy over using YOLO or CNN alone.</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EEF4F3"/>
        </a:solidFill>
      </p:bgPr>
    </p:bg>
    <p:spTree>
      <p:nvGrpSpPr>
        <p:cNvPr id="1" name=""/>
        <p:cNvGrpSpPr/>
        <p:nvPr/>
      </p:nvGrpSpPr>
      <p:grpSpPr>
        <a:xfrm>
          <a:off x="0" y="0"/>
          <a:ext cx="0" cy="0"/>
          <a:chOff x="0" y="0"/>
          <a:chExt cx="0" cy="0"/>
        </a:xfrm>
      </p:grpSpPr>
      <p:grpSp>
        <p:nvGrpSpPr>
          <p:cNvPr name="Group 2" id="2"/>
          <p:cNvGrpSpPr/>
          <p:nvPr/>
        </p:nvGrpSpPr>
        <p:grpSpPr>
          <a:xfrm rot="0">
            <a:off x="-379100" y="5221973"/>
            <a:ext cx="19065250" cy="4036327"/>
            <a:chOff x="0" y="0"/>
            <a:chExt cx="5021300" cy="1063065"/>
          </a:xfrm>
        </p:grpSpPr>
        <p:sp>
          <p:nvSpPr>
            <p:cNvPr name="Freeform 3" id="3"/>
            <p:cNvSpPr/>
            <p:nvPr/>
          </p:nvSpPr>
          <p:spPr>
            <a:xfrm flipH="false" flipV="false" rot="0">
              <a:off x="0" y="0"/>
              <a:ext cx="5021300" cy="1063065"/>
            </a:xfrm>
            <a:custGeom>
              <a:avLst/>
              <a:gdLst/>
              <a:ahLst/>
              <a:cxnLst/>
              <a:rect r="r" b="b" t="t" l="l"/>
              <a:pathLst>
                <a:path h="1063065" w="5021300">
                  <a:moveTo>
                    <a:pt x="8121" y="0"/>
                  </a:moveTo>
                  <a:lnTo>
                    <a:pt x="5013179" y="0"/>
                  </a:lnTo>
                  <a:cubicBezTo>
                    <a:pt x="5015333" y="0"/>
                    <a:pt x="5017399" y="856"/>
                    <a:pt x="5018922" y="2379"/>
                  </a:cubicBezTo>
                  <a:cubicBezTo>
                    <a:pt x="5020445" y="3902"/>
                    <a:pt x="5021300" y="5968"/>
                    <a:pt x="5021300" y="8121"/>
                  </a:cubicBezTo>
                  <a:lnTo>
                    <a:pt x="5021300" y="1054944"/>
                  </a:lnTo>
                  <a:cubicBezTo>
                    <a:pt x="5021300" y="1057098"/>
                    <a:pt x="5020445" y="1059164"/>
                    <a:pt x="5018922" y="1060687"/>
                  </a:cubicBezTo>
                  <a:cubicBezTo>
                    <a:pt x="5017399" y="1062210"/>
                    <a:pt x="5015333" y="1063065"/>
                    <a:pt x="5013179" y="1063065"/>
                  </a:cubicBezTo>
                  <a:lnTo>
                    <a:pt x="8121" y="1063065"/>
                  </a:lnTo>
                  <a:cubicBezTo>
                    <a:pt x="5968" y="1063065"/>
                    <a:pt x="3902" y="1062210"/>
                    <a:pt x="2379" y="1060687"/>
                  </a:cubicBezTo>
                  <a:cubicBezTo>
                    <a:pt x="856" y="1059164"/>
                    <a:pt x="0" y="1057098"/>
                    <a:pt x="0" y="1054944"/>
                  </a:cubicBezTo>
                  <a:lnTo>
                    <a:pt x="0" y="8121"/>
                  </a:lnTo>
                  <a:cubicBezTo>
                    <a:pt x="0" y="5968"/>
                    <a:pt x="856" y="3902"/>
                    <a:pt x="2379" y="2379"/>
                  </a:cubicBezTo>
                  <a:cubicBezTo>
                    <a:pt x="3902" y="856"/>
                    <a:pt x="5968" y="0"/>
                    <a:pt x="8121" y="0"/>
                  </a:cubicBezTo>
                  <a:close/>
                </a:path>
              </a:pathLst>
            </a:custGeom>
            <a:solidFill>
              <a:srgbClr val="02B676">
                <a:alpha val="14902"/>
              </a:srgbClr>
            </a:solidFill>
          </p:spPr>
        </p:sp>
        <p:sp>
          <p:nvSpPr>
            <p:cNvPr name="TextBox 4" id="4"/>
            <p:cNvSpPr txBox="true"/>
            <p:nvPr/>
          </p:nvSpPr>
          <p:spPr>
            <a:xfrm>
              <a:off x="0" y="-9525"/>
              <a:ext cx="5021300" cy="1072590"/>
            </a:xfrm>
            <a:prstGeom prst="rect">
              <a:avLst/>
            </a:prstGeom>
          </p:spPr>
          <p:txBody>
            <a:bodyPr anchor="ctr" rtlCol="false" tIns="50800" lIns="50800" bIns="50800" rIns="50800"/>
            <a:lstStyle/>
            <a:p>
              <a:pPr algn="ctr">
                <a:lnSpc>
                  <a:spcPts val="2266"/>
                </a:lnSpc>
              </a:pPr>
            </a:p>
            <a:p>
              <a:pPr algn="ctr">
                <a:lnSpc>
                  <a:spcPts val="2266"/>
                </a:lnSpc>
              </a:pPr>
            </a:p>
          </p:txBody>
        </p:sp>
      </p:grpSp>
      <p:sp>
        <p:nvSpPr>
          <p:cNvPr name="TextBox 5" id="5"/>
          <p:cNvSpPr txBox="true"/>
          <p:nvPr/>
        </p:nvSpPr>
        <p:spPr>
          <a:xfrm rot="0">
            <a:off x="1028700" y="1019175"/>
            <a:ext cx="8115300" cy="1073150"/>
          </a:xfrm>
          <a:prstGeom prst="rect">
            <a:avLst/>
          </a:prstGeom>
        </p:spPr>
        <p:txBody>
          <a:bodyPr anchor="t" rtlCol="false" tIns="0" lIns="0" bIns="0" rIns="0">
            <a:spAutoFit/>
          </a:bodyPr>
          <a:lstStyle/>
          <a:p>
            <a:pPr algn="l">
              <a:lnSpc>
                <a:spcPts val="6999"/>
              </a:lnSpc>
            </a:pPr>
            <a:r>
              <a:rPr lang="en-US" sz="6999" spc="342">
                <a:solidFill>
                  <a:srgbClr val="290606"/>
                </a:solidFill>
                <a:latin typeface="Cheddar"/>
                <a:ea typeface="Cheddar"/>
                <a:cs typeface="Cheddar"/>
                <a:sym typeface="Cheddar"/>
              </a:rPr>
              <a:t>DATASET OVERVIEW</a:t>
            </a:r>
          </a:p>
        </p:txBody>
      </p:sp>
      <p:grpSp>
        <p:nvGrpSpPr>
          <p:cNvPr name="Group 6" id="6"/>
          <p:cNvGrpSpPr/>
          <p:nvPr/>
        </p:nvGrpSpPr>
        <p:grpSpPr>
          <a:xfrm rot="0">
            <a:off x="4026985" y="4150510"/>
            <a:ext cx="1306762" cy="130676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112566" y="0"/>
                  </a:moveTo>
                  <a:lnTo>
                    <a:pt x="700234" y="0"/>
                  </a:lnTo>
                  <a:cubicBezTo>
                    <a:pt x="762403" y="0"/>
                    <a:pt x="812800" y="50397"/>
                    <a:pt x="812800" y="112566"/>
                  </a:cubicBezTo>
                  <a:lnTo>
                    <a:pt x="812800" y="700234"/>
                  </a:lnTo>
                  <a:cubicBezTo>
                    <a:pt x="812800" y="762403"/>
                    <a:pt x="762403" y="812800"/>
                    <a:pt x="700234" y="812800"/>
                  </a:cubicBezTo>
                  <a:lnTo>
                    <a:pt x="112566" y="812800"/>
                  </a:lnTo>
                  <a:cubicBezTo>
                    <a:pt x="50397" y="812800"/>
                    <a:pt x="0" y="762403"/>
                    <a:pt x="0" y="700234"/>
                  </a:cubicBezTo>
                  <a:lnTo>
                    <a:pt x="0" y="112566"/>
                  </a:lnTo>
                  <a:cubicBezTo>
                    <a:pt x="0" y="50397"/>
                    <a:pt x="50397" y="0"/>
                    <a:pt x="112566" y="0"/>
                  </a:cubicBezTo>
                  <a:close/>
                </a:path>
              </a:pathLst>
            </a:custGeom>
            <a:solidFill>
              <a:srgbClr val="02B676"/>
            </a:solidFill>
          </p:spPr>
        </p:sp>
        <p:sp>
          <p:nvSpPr>
            <p:cNvPr name="TextBox 8" id="8"/>
            <p:cNvSpPr txBox="true"/>
            <p:nvPr/>
          </p:nvSpPr>
          <p:spPr>
            <a:xfrm>
              <a:off x="0" y="-28575"/>
              <a:ext cx="812800" cy="841375"/>
            </a:xfrm>
            <a:prstGeom prst="rect">
              <a:avLst/>
            </a:prstGeom>
          </p:spPr>
          <p:txBody>
            <a:bodyPr anchor="ctr" rtlCol="false" tIns="50800" lIns="50800" bIns="50800" rIns="50800"/>
            <a:lstStyle/>
            <a:p>
              <a:pPr algn="ctr">
                <a:lnSpc>
                  <a:spcPts val="5150"/>
                </a:lnSpc>
              </a:pPr>
              <a:r>
                <a:rPr lang="en-US" sz="5000" spc="355">
                  <a:solidFill>
                    <a:srgbClr val="FDF8F8"/>
                  </a:solidFill>
                  <a:latin typeface="Cheddar"/>
                  <a:ea typeface="Cheddar"/>
                  <a:cs typeface="Cheddar"/>
                  <a:sym typeface="Cheddar"/>
                </a:rPr>
                <a:t>01</a:t>
              </a:r>
            </a:p>
          </p:txBody>
        </p:sp>
      </p:grpSp>
      <p:grpSp>
        <p:nvGrpSpPr>
          <p:cNvPr name="Group 9" id="9"/>
          <p:cNvGrpSpPr/>
          <p:nvPr/>
        </p:nvGrpSpPr>
        <p:grpSpPr>
          <a:xfrm rot="0">
            <a:off x="10983703" y="4278342"/>
            <a:ext cx="1306762" cy="1306762"/>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112566" y="0"/>
                  </a:moveTo>
                  <a:lnTo>
                    <a:pt x="700234" y="0"/>
                  </a:lnTo>
                  <a:cubicBezTo>
                    <a:pt x="762403" y="0"/>
                    <a:pt x="812800" y="50397"/>
                    <a:pt x="812800" y="112566"/>
                  </a:cubicBezTo>
                  <a:lnTo>
                    <a:pt x="812800" y="700234"/>
                  </a:lnTo>
                  <a:cubicBezTo>
                    <a:pt x="812800" y="762403"/>
                    <a:pt x="762403" y="812800"/>
                    <a:pt x="700234" y="812800"/>
                  </a:cubicBezTo>
                  <a:lnTo>
                    <a:pt x="112566" y="812800"/>
                  </a:lnTo>
                  <a:cubicBezTo>
                    <a:pt x="50397" y="812800"/>
                    <a:pt x="0" y="762403"/>
                    <a:pt x="0" y="700234"/>
                  </a:cubicBezTo>
                  <a:lnTo>
                    <a:pt x="0" y="112566"/>
                  </a:lnTo>
                  <a:cubicBezTo>
                    <a:pt x="0" y="50397"/>
                    <a:pt x="50397" y="0"/>
                    <a:pt x="112566" y="0"/>
                  </a:cubicBezTo>
                  <a:close/>
                </a:path>
              </a:pathLst>
            </a:custGeom>
            <a:solidFill>
              <a:srgbClr val="02B676"/>
            </a:solidFill>
          </p:spPr>
        </p:sp>
        <p:sp>
          <p:nvSpPr>
            <p:cNvPr name="TextBox 11" id="11"/>
            <p:cNvSpPr txBox="true"/>
            <p:nvPr/>
          </p:nvSpPr>
          <p:spPr>
            <a:xfrm>
              <a:off x="0" y="-28575"/>
              <a:ext cx="812800" cy="841375"/>
            </a:xfrm>
            <a:prstGeom prst="rect">
              <a:avLst/>
            </a:prstGeom>
          </p:spPr>
          <p:txBody>
            <a:bodyPr anchor="ctr" rtlCol="false" tIns="50800" lIns="50800" bIns="50800" rIns="50800"/>
            <a:lstStyle/>
            <a:p>
              <a:pPr algn="ctr">
                <a:lnSpc>
                  <a:spcPts val="5150"/>
                </a:lnSpc>
              </a:pPr>
              <a:r>
                <a:rPr lang="en-US" sz="5000" spc="355">
                  <a:solidFill>
                    <a:srgbClr val="FDF8F8"/>
                  </a:solidFill>
                  <a:latin typeface="Cheddar"/>
                  <a:ea typeface="Cheddar"/>
                  <a:cs typeface="Cheddar"/>
                  <a:sym typeface="Cheddar"/>
                </a:rPr>
                <a:t>02</a:t>
              </a:r>
            </a:p>
          </p:txBody>
        </p:sp>
      </p:grpSp>
      <p:sp>
        <p:nvSpPr>
          <p:cNvPr name="TextBox 12" id="12"/>
          <p:cNvSpPr txBox="true"/>
          <p:nvPr/>
        </p:nvSpPr>
        <p:spPr>
          <a:xfrm rot="0">
            <a:off x="2449942" y="6361257"/>
            <a:ext cx="4667600" cy="2535870"/>
          </a:xfrm>
          <a:prstGeom prst="rect">
            <a:avLst/>
          </a:prstGeom>
        </p:spPr>
        <p:txBody>
          <a:bodyPr anchor="t" rtlCol="false" tIns="0" lIns="0" bIns="0" rIns="0">
            <a:spAutoFit/>
          </a:bodyPr>
          <a:lstStyle/>
          <a:p>
            <a:pPr algn="ctr">
              <a:lnSpc>
                <a:spcPts val="4005"/>
              </a:lnSpc>
            </a:pPr>
            <a:r>
              <a:rPr lang="en-US" sz="2600">
                <a:solidFill>
                  <a:srgbClr val="290606"/>
                </a:solidFill>
                <a:latin typeface="Telegraf"/>
                <a:ea typeface="Telegraf"/>
                <a:cs typeface="Telegraf"/>
                <a:sym typeface="Telegraf"/>
              </a:rPr>
              <a:t>The dataset used comprises approximately 1,200 labeled images, including three categories: Stop, Left Turn, and Right Turn signs. </a:t>
            </a:r>
          </a:p>
        </p:txBody>
      </p:sp>
      <p:sp>
        <p:nvSpPr>
          <p:cNvPr name="TextBox 13" id="13"/>
          <p:cNvSpPr txBox="true"/>
          <p:nvPr/>
        </p:nvSpPr>
        <p:spPr>
          <a:xfrm rot="0">
            <a:off x="8940917" y="6351614"/>
            <a:ext cx="5502507" cy="1641160"/>
          </a:xfrm>
          <a:prstGeom prst="rect">
            <a:avLst/>
          </a:prstGeom>
        </p:spPr>
        <p:txBody>
          <a:bodyPr anchor="t" rtlCol="false" tIns="0" lIns="0" bIns="0" rIns="0">
            <a:spAutoFit/>
          </a:bodyPr>
          <a:lstStyle/>
          <a:p>
            <a:pPr algn="ctr">
              <a:lnSpc>
                <a:spcPts val="4311"/>
              </a:lnSpc>
            </a:pPr>
            <a:r>
              <a:rPr lang="en-US" sz="2799">
                <a:solidFill>
                  <a:srgbClr val="290606"/>
                </a:solidFill>
                <a:latin typeface="Telegraf"/>
                <a:ea typeface="Telegraf"/>
                <a:cs typeface="Telegraf"/>
                <a:sym typeface="Telegraf"/>
              </a:rPr>
              <a:t>Images were sourced from public datasets and manual collection efforts like roboflow.</a:t>
            </a:r>
          </a:p>
        </p:txBody>
      </p:sp>
      <p:sp>
        <p:nvSpPr>
          <p:cNvPr name="TextBox 14" id="14"/>
          <p:cNvSpPr txBox="true"/>
          <p:nvPr/>
        </p:nvSpPr>
        <p:spPr>
          <a:xfrm rot="0">
            <a:off x="3292875" y="5611599"/>
            <a:ext cx="3267045" cy="590550"/>
          </a:xfrm>
          <a:prstGeom prst="rect">
            <a:avLst/>
          </a:prstGeom>
        </p:spPr>
        <p:txBody>
          <a:bodyPr anchor="t" rtlCol="false" tIns="0" lIns="0" bIns="0" rIns="0">
            <a:spAutoFit/>
          </a:bodyPr>
          <a:lstStyle/>
          <a:p>
            <a:pPr algn="ctr" marL="0" indent="0" lvl="0">
              <a:lnSpc>
                <a:spcPts val="4200"/>
              </a:lnSpc>
              <a:spcBef>
                <a:spcPct val="0"/>
              </a:spcBef>
            </a:pPr>
            <a:r>
              <a:rPr lang="en-US" sz="3000" strike="noStrike" u="none">
                <a:solidFill>
                  <a:srgbClr val="000000"/>
                </a:solidFill>
                <a:latin typeface="Cheddar"/>
                <a:ea typeface="Cheddar"/>
                <a:cs typeface="Cheddar"/>
                <a:sym typeface="Cheddar"/>
              </a:rPr>
              <a:t>DATASET COMPOSITION</a:t>
            </a:r>
          </a:p>
        </p:txBody>
      </p:sp>
      <p:sp>
        <p:nvSpPr>
          <p:cNvPr name="TextBox 15" id="15"/>
          <p:cNvSpPr txBox="true"/>
          <p:nvPr/>
        </p:nvSpPr>
        <p:spPr>
          <a:xfrm rot="0">
            <a:off x="9483410" y="5675457"/>
            <a:ext cx="4417521" cy="590550"/>
          </a:xfrm>
          <a:prstGeom prst="rect">
            <a:avLst/>
          </a:prstGeom>
        </p:spPr>
        <p:txBody>
          <a:bodyPr anchor="t" rtlCol="false" tIns="0" lIns="0" bIns="0" rIns="0">
            <a:spAutoFit/>
          </a:bodyPr>
          <a:lstStyle/>
          <a:p>
            <a:pPr algn="ctr">
              <a:lnSpc>
                <a:spcPts val="4200"/>
              </a:lnSpc>
              <a:spcBef>
                <a:spcPct val="0"/>
              </a:spcBef>
            </a:pPr>
            <a:r>
              <a:rPr lang="en-US" sz="3000">
                <a:solidFill>
                  <a:srgbClr val="000000"/>
                </a:solidFill>
                <a:latin typeface="Cheddar"/>
                <a:ea typeface="Cheddar"/>
                <a:cs typeface="Cheddar"/>
                <a:sym typeface="Cheddar"/>
              </a:rPr>
              <a:t>DATA SET SOURCE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EF4F3"/>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2"/>
            <a:stretch>
              <a:fillRect l="0" t="0" r="0" b="0"/>
            </a:stretch>
          </a:blipFill>
        </p:spPr>
      </p:sp>
      <p:sp>
        <p:nvSpPr>
          <p:cNvPr name="Freeform 3" id="3"/>
          <p:cNvSpPr/>
          <p:nvPr/>
        </p:nvSpPr>
        <p:spPr>
          <a:xfrm flipH="false" flipV="false" rot="0">
            <a:off x="5143500" y="0"/>
            <a:ext cx="6493205" cy="4500940"/>
          </a:xfrm>
          <a:custGeom>
            <a:avLst/>
            <a:gdLst/>
            <a:ahLst/>
            <a:cxnLst/>
            <a:rect r="r" b="b" t="t" l="l"/>
            <a:pathLst>
              <a:path h="4500940" w="6493205">
                <a:moveTo>
                  <a:pt x="0" y="0"/>
                </a:moveTo>
                <a:lnTo>
                  <a:pt x="6493205" y="0"/>
                </a:lnTo>
                <a:lnTo>
                  <a:pt x="6493205" y="4500940"/>
                </a:lnTo>
                <a:lnTo>
                  <a:pt x="0" y="4500940"/>
                </a:lnTo>
                <a:lnTo>
                  <a:pt x="0" y="0"/>
                </a:lnTo>
                <a:close/>
              </a:path>
            </a:pathLst>
          </a:custGeom>
          <a:blipFill>
            <a:blip r:embed="rId3"/>
            <a:stretch>
              <a:fillRect l="0" t="0" r="0" b="-377"/>
            </a:stretch>
          </a:blipFill>
        </p:spPr>
      </p:sp>
      <p:sp>
        <p:nvSpPr>
          <p:cNvPr name="Freeform 4" id="4"/>
          <p:cNvSpPr/>
          <p:nvPr/>
        </p:nvSpPr>
        <p:spPr>
          <a:xfrm flipH="false" flipV="false" rot="0">
            <a:off x="11636705" y="0"/>
            <a:ext cx="6651295" cy="4621247"/>
          </a:xfrm>
          <a:custGeom>
            <a:avLst/>
            <a:gdLst/>
            <a:ahLst/>
            <a:cxnLst/>
            <a:rect r="r" b="b" t="t" l="l"/>
            <a:pathLst>
              <a:path h="4621247" w="6651295">
                <a:moveTo>
                  <a:pt x="0" y="0"/>
                </a:moveTo>
                <a:lnTo>
                  <a:pt x="6651295" y="0"/>
                </a:lnTo>
                <a:lnTo>
                  <a:pt x="6651295" y="4621247"/>
                </a:lnTo>
                <a:lnTo>
                  <a:pt x="0" y="4621247"/>
                </a:lnTo>
                <a:lnTo>
                  <a:pt x="0" y="0"/>
                </a:lnTo>
                <a:close/>
              </a:path>
            </a:pathLst>
          </a:custGeom>
          <a:blipFill>
            <a:blip r:embed="rId4"/>
            <a:stretch>
              <a:fillRect l="0" t="0" r="0" b="0"/>
            </a:stretch>
          </a:blipFill>
        </p:spPr>
      </p:sp>
      <p:sp>
        <p:nvSpPr>
          <p:cNvPr name="TextBox 5" id="5"/>
          <p:cNvSpPr txBox="true"/>
          <p:nvPr/>
        </p:nvSpPr>
        <p:spPr>
          <a:xfrm rot="0">
            <a:off x="556492" y="5542157"/>
            <a:ext cx="4030515" cy="2334651"/>
          </a:xfrm>
          <a:prstGeom prst="rect">
            <a:avLst/>
          </a:prstGeom>
        </p:spPr>
        <p:txBody>
          <a:bodyPr anchor="t" rtlCol="false" tIns="0" lIns="0" bIns="0" rIns="0">
            <a:spAutoFit/>
          </a:bodyPr>
          <a:lstStyle/>
          <a:p>
            <a:pPr algn="ctr">
              <a:lnSpc>
                <a:spcPts val="3697"/>
              </a:lnSpc>
            </a:pPr>
            <a:r>
              <a:rPr lang="en-US" sz="2400">
                <a:solidFill>
                  <a:srgbClr val="000000"/>
                </a:solidFill>
                <a:latin typeface="Telegraf"/>
                <a:ea typeface="Telegraf"/>
                <a:cs typeface="Telegraf"/>
                <a:sym typeface="Telegraf"/>
              </a:rPr>
              <a:t>0 </a:t>
            </a:r>
          </a:p>
          <a:p>
            <a:pPr algn="ctr">
              <a:lnSpc>
                <a:spcPts val="3697"/>
              </a:lnSpc>
            </a:pPr>
            <a:r>
              <a:rPr lang="en-US" sz="2400">
                <a:solidFill>
                  <a:srgbClr val="000000"/>
                </a:solidFill>
                <a:latin typeface="Telegraf"/>
                <a:ea typeface="Telegraf"/>
                <a:cs typeface="Telegraf"/>
                <a:sym typeface="Telegraf"/>
              </a:rPr>
              <a:t>0.9084821428571429 </a:t>
            </a:r>
          </a:p>
          <a:p>
            <a:pPr algn="ctr">
              <a:lnSpc>
                <a:spcPts val="3697"/>
              </a:lnSpc>
              <a:spcBef>
                <a:spcPct val="0"/>
              </a:spcBef>
            </a:pPr>
            <a:r>
              <a:rPr lang="en-US" sz="2400">
                <a:solidFill>
                  <a:srgbClr val="000000"/>
                </a:solidFill>
                <a:latin typeface="Telegraf"/>
                <a:ea typeface="Telegraf"/>
                <a:cs typeface="Telegraf"/>
                <a:sym typeface="Telegraf"/>
              </a:rPr>
              <a:t>0.2622767857142857 </a:t>
            </a:r>
            <a:r>
              <a:rPr lang="en-US" sz="2400">
                <a:solidFill>
                  <a:srgbClr val="000000"/>
                </a:solidFill>
                <a:latin typeface="Telegraf"/>
                <a:ea typeface="Telegraf"/>
                <a:cs typeface="Telegraf"/>
                <a:sym typeface="Telegraf"/>
              </a:rPr>
              <a:t> </a:t>
            </a:r>
          </a:p>
          <a:p>
            <a:pPr algn="ctr">
              <a:lnSpc>
                <a:spcPts val="3697"/>
              </a:lnSpc>
              <a:spcBef>
                <a:spcPct val="0"/>
              </a:spcBef>
            </a:pPr>
            <a:r>
              <a:rPr lang="en-US" sz="2400">
                <a:solidFill>
                  <a:srgbClr val="000000"/>
                </a:solidFill>
                <a:latin typeface="Telegraf"/>
                <a:ea typeface="Telegraf"/>
                <a:cs typeface="Telegraf"/>
                <a:sym typeface="Telegraf"/>
              </a:rPr>
              <a:t>0.16294642857142858  </a:t>
            </a:r>
          </a:p>
          <a:p>
            <a:pPr algn="ctr">
              <a:lnSpc>
                <a:spcPts val="3697"/>
              </a:lnSpc>
              <a:spcBef>
                <a:spcPct val="0"/>
              </a:spcBef>
            </a:pPr>
            <a:r>
              <a:rPr lang="en-US" sz="2400">
                <a:solidFill>
                  <a:srgbClr val="000000"/>
                </a:solidFill>
                <a:latin typeface="Telegraf"/>
                <a:ea typeface="Telegraf"/>
                <a:cs typeface="Telegraf"/>
                <a:sym typeface="Telegraf"/>
              </a:rPr>
              <a:t>0.203125</a:t>
            </a:r>
          </a:p>
        </p:txBody>
      </p:sp>
      <p:sp>
        <p:nvSpPr>
          <p:cNvPr name="TextBox 6" id="6"/>
          <p:cNvSpPr txBox="true"/>
          <p:nvPr/>
        </p:nvSpPr>
        <p:spPr>
          <a:xfrm rot="0">
            <a:off x="6641690" y="5542157"/>
            <a:ext cx="3496825" cy="2334651"/>
          </a:xfrm>
          <a:prstGeom prst="rect">
            <a:avLst/>
          </a:prstGeom>
        </p:spPr>
        <p:txBody>
          <a:bodyPr anchor="t" rtlCol="false" tIns="0" lIns="0" bIns="0" rIns="0">
            <a:spAutoFit/>
          </a:bodyPr>
          <a:lstStyle/>
          <a:p>
            <a:pPr algn="ctr">
              <a:lnSpc>
                <a:spcPts val="3697"/>
              </a:lnSpc>
              <a:spcBef>
                <a:spcPct val="0"/>
              </a:spcBef>
            </a:pPr>
            <a:r>
              <a:rPr lang="en-US" sz="2400">
                <a:solidFill>
                  <a:srgbClr val="000000"/>
                </a:solidFill>
                <a:latin typeface="Telegraf"/>
                <a:ea typeface="Telegraf"/>
                <a:cs typeface="Telegraf"/>
                <a:sym typeface="Telegraf"/>
              </a:rPr>
              <a:t>1</a:t>
            </a:r>
            <a:r>
              <a:rPr lang="en-US" sz="2400">
                <a:solidFill>
                  <a:srgbClr val="000000"/>
                </a:solidFill>
                <a:latin typeface="Telegraf"/>
                <a:ea typeface="Telegraf"/>
                <a:cs typeface="Telegraf"/>
                <a:sym typeface="Telegraf"/>
              </a:rPr>
              <a:t> </a:t>
            </a:r>
          </a:p>
          <a:p>
            <a:pPr algn="ctr">
              <a:lnSpc>
                <a:spcPts val="3697"/>
              </a:lnSpc>
              <a:spcBef>
                <a:spcPct val="0"/>
              </a:spcBef>
            </a:pPr>
            <a:r>
              <a:rPr lang="en-US" sz="2400">
                <a:solidFill>
                  <a:srgbClr val="000000"/>
                </a:solidFill>
                <a:latin typeface="Telegraf"/>
                <a:ea typeface="Telegraf"/>
                <a:cs typeface="Telegraf"/>
                <a:sym typeface="Telegraf"/>
              </a:rPr>
              <a:t>0.7993527508090615 </a:t>
            </a:r>
          </a:p>
          <a:p>
            <a:pPr algn="ctr">
              <a:lnSpc>
                <a:spcPts val="3697"/>
              </a:lnSpc>
              <a:spcBef>
                <a:spcPct val="0"/>
              </a:spcBef>
            </a:pPr>
            <a:r>
              <a:rPr lang="en-US" sz="2400">
                <a:solidFill>
                  <a:srgbClr val="000000"/>
                </a:solidFill>
                <a:latin typeface="Telegraf"/>
                <a:ea typeface="Telegraf"/>
                <a:cs typeface="Telegraf"/>
                <a:sym typeface="Telegraf"/>
              </a:rPr>
              <a:t>0.36046511627906974 </a:t>
            </a:r>
          </a:p>
          <a:p>
            <a:pPr algn="ctr">
              <a:lnSpc>
                <a:spcPts val="3697"/>
              </a:lnSpc>
              <a:spcBef>
                <a:spcPct val="0"/>
              </a:spcBef>
            </a:pPr>
            <a:r>
              <a:rPr lang="en-US" sz="2400">
                <a:solidFill>
                  <a:srgbClr val="000000"/>
                </a:solidFill>
                <a:latin typeface="Telegraf"/>
                <a:ea typeface="Telegraf"/>
                <a:cs typeface="Telegraf"/>
                <a:sym typeface="Telegraf"/>
              </a:rPr>
              <a:t>0.37540453074433655 </a:t>
            </a:r>
          </a:p>
          <a:p>
            <a:pPr algn="ctr">
              <a:lnSpc>
                <a:spcPts val="3697"/>
              </a:lnSpc>
              <a:spcBef>
                <a:spcPct val="0"/>
              </a:spcBef>
            </a:pPr>
            <a:r>
              <a:rPr lang="en-US" sz="2400">
                <a:solidFill>
                  <a:srgbClr val="000000"/>
                </a:solidFill>
                <a:latin typeface="Telegraf"/>
                <a:ea typeface="Telegraf"/>
                <a:cs typeface="Telegraf"/>
                <a:sym typeface="Telegraf"/>
              </a:rPr>
              <a:t>0.5162790697674419</a:t>
            </a:r>
          </a:p>
        </p:txBody>
      </p:sp>
      <p:sp>
        <p:nvSpPr>
          <p:cNvPr name="TextBox 7" id="7"/>
          <p:cNvSpPr txBox="true"/>
          <p:nvPr/>
        </p:nvSpPr>
        <p:spPr>
          <a:xfrm rot="0">
            <a:off x="13284347" y="5542157"/>
            <a:ext cx="3356011" cy="2334651"/>
          </a:xfrm>
          <a:prstGeom prst="rect">
            <a:avLst/>
          </a:prstGeom>
        </p:spPr>
        <p:txBody>
          <a:bodyPr anchor="t" rtlCol="false" tIns="0" lIns="0" bIns="0" rIns="0">
            <a:spAutoFit/>
          </a:bodyPr>
          <a:lstStyle/>
          <a:p>
            <a:pPr algn="ctr">
              <a:lnSpc>
                <a:spcPts val="3697"/>
              </a:lnSpc>
            </a:pPr>
            <a:r>
              <a:rPr lang="en-US" sz="2400">
                <a:solidFill>
                  <a:srgbClr val="000000"/>
                </a:solidFill>
                <a:latin typeface="Telegraf"/>
                <a:ea typeface="Telegraf"/>
                <a:cs typeface="Telegraf"/>
                <a:sym typeface="Telegraf"/>
              </a:rPr>
              <a:t>1 </a:t>
            </a:r>
          </a:p>
          <a:p>
            <a:pPr algn="ctr">
              <a:lnSpc>
                <a:spcPts val="3697"/>
              </a:lnSpc>
            </a:pPr>
            <a:r>
              <a:rPr lang="en-US" sz="2400">
                <a:solidFill>
                  <a:srgbClr val="000000"/>
                </a:solidFill>
                <a:latin typeface="Telegraf"/>
                <a:ea typeface="Telegraf"/>
                <a:cs typeface="Telegraf"/>
                <a:sym typeface="Telegraf"/>
              </a:rPr>
              <a:t>0.2630272952853598 </a:t>
            </a:r>
          </a:p>
          <a:p>
            <a:pPr algn="ctr">
              <a:lnSpc>
                <a:spcPts val="3697"/>
              </a:lnSpc>
              <a:spcBef>
                <a:spcPct val="0"/>
              </a:spcBef>
            </a:pPr>
            <a:r>
              <a:rPr lang="en-US" sz="2400">
                <a:solidFill>
                  <a:srgbClr val="000000"/>
                </a:solidFill>
                <a:latin typeface="Telegraf"/>
                <a:ea typeface="Telegraf"/>
                <a:cs typeface="Telegraf"/>
                <a:sym typeface="Telegraf"/>
              </a:rPr>
              <a:t>0.42142857142857143</a:t>
            </a:r>
            <a:r>
              <a:rPr lang="en-US" sz="2400">
                <a:solidFill>
                  <a:srgbClr val="000000"/>
                </a:solidFill>
                <a:latin typeface="Telegraf"/>
                <a:ea typeface="Telegraf"/>
                <a:cs typeface="Telegraf"/>
                <a:sym typeface="Telegraf"/>
              </a:rPr>
              <a:t> </a:t>
            </a:r>
          </a:p>
          <a:p>
            <a:pPr algn="ctr">
              <a:lnSpc>
                <a:spcPts val="3697"/>
              </a:lnSpc>
              <a:spcBef>
                <a:spcPct val="0"/>
              </a:spcBef>
            </a:pPr>
            <a:r>
              <a:rPr lang="en-US" sz="2400">
                <a:solidFill>
                  <a:srgbClr val="000000"/>
                </a:solidFill>
                <a:latin typeface="Telegraf"/>
                <a:ea typeface="Telegraf"/>
                <a:cs typeface="Telegraf"/>
                <a:sym typeface="Telegraf"/>
              </a:rPr>
              <a:t>0.4665012406947891 </a:t>
            </a:r>
          </a:p>
          <a:p>
            <a:pPr algn="ctr">
              <a:lnSpc>
                <a:spcPts val="3697"/>
              </a:lnSpc>
              <a:spcBef>
                <a:spcPct val="0"/>
              </a:spcBef>
            </a:pPr>
            <a:r>
              <a:rPr lang="en-US" sz="2400">
                <a:solidFill>
                  <a:srgbClr val="000000"/>
                </a:solidFill>
                <a:latin typeface="Telegraf"/>
                <a:ea typeface="Telegraf"/>
                <a:cs typeface="Telegraf"/>
                <a:sym typeface="Telegraf"/>
              </a:rPr>
              <a:t>0.6642857142857143</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EEF4F3"/>
        </a:solidFill>
      </p:bgPr>
    </p:bg>
    <p:spTree>
      <p:nvGrpSpPr>
        <p:cNvPr id="1" name=""/>
        <p:cNvGrpSpPr/>
        <p:nvPr/>
      </p:nvGrpSpPr>
      <p:grpSpPr>
        <a:xfrm>
          <a:off x="0" y="0"/>
          <a:ext cx="0" cy="0"/>
          <a:chOff x="0" y="0"/>
          <a:chExt cx="0" cy="0"/>
        </a:xfrm>
      </p:grpSpPr>
      <p:sp>
        <p:nvSpPr>
          <p:cNvPr name="AutoShape 2" id="2"/>
          <p:cNvSpPr/>
          <p:nvPr/>
        </p:nvSpPr>
        <p:spPr>
          <a:xfrm>
            <a:off x="-886757" y="3754522"/>
            <a:ext cx="20061513" cy="0"/>
          </a:xfrm>
          <a:prstGeom prst="line">
            <a:avLst/>
          </a:prstGeom>
          <a:ln cap="flat" w="28575">
            <a:solidFill>
              <a:srgbClr val="02B676"/>
            </a:solidFill>
            <a:prstDash val="solid"/>
            <a:headEnd type="none" len="sm" w="sm"/>
            <a:tailEnd type="none" len="sm" w="sm"/>
          </a:ln>
        </p:spPr>
      </p:sp>
      <p:sp>
        <p:nvSpPr>
          <p:cNvPr name="TextBox 3" id="3"/>
          <p:cNvSpPr txBox="true"/>
          <p:nvPr/>
        </p:nvSpPr>
        <p:spPr>
          <a:xfrm rot="0">
            <a:off x="1028700" y="1019175"/>
            <a:ext cx="10556577" cy="1073150"/>
          </a:xfrm>
          <a:prstGeom prst="rect">
            <a:avLst/>
          </a:prstGeom>
        </p:spPr>
        <p:txBody>
          <a:bodyPr anchor="t" rtlCol="false" tIns="0" lIns="0" bIns="0" rIns="0">
            <a:spAutoFit/>
          </a:bodyPr>
          <a:lstStyle/>
          <a:p>
            <a:pPr algn="l">
              <a:lnSpc>
                <a:spcPts val="6999"/>
              </a:lnSpc>
            </a:pPr>
            <a:r>
              <a:rPr lang="en-US" sz="6999" spc="342">
                <a:solidFill>
                  <a:srgbClr val="290606"/>
                </a:solidFill>
                <a:latin typeface="Cheddar"/>
                <a:ea typeface="Cheddar"/>
                <a:cs typeface="Cheddar"/>
                <a:sym typeface="Cheddar"/>
              </a:rPr>
              <a:t> DATA PREPROCESSING STEPS</a:t>
            </a:r>
          </a:p>
        </p:txBody>
      </p:sp>
      <p:sp>
        <p:nvSpPr>
          <p:cNvPr name="TextBox 4" id="4"/>
          <p:cNvSpPr txBox="true"/>
          <p:nvPr/>
        </p:nvSpPr>
        <p:spPr>
          <a:xfrm rot="0">
            <a:off x="725912" y="4427214"/>
            <a:ext cx="3790504" cy="563484"/>
          </a:xfrm>
          <a:prstGeom prst="rect">
            <a:avLst/>
          </a:prstGeom>
        </p:spPr>
        <p:txBody>
          <a:bodyPr anchor="t" rtlCol="false" tIns="0" lIns="0" bIns="0" rIns="0">
            <a:spAutoFit/>
          </a:bodyPr>
          <a:lstStyle/>
          <a:p>
            <a:pPr algn="ctr">
              <a:lnSpc>
                <a:spcPts val="3708"/>
              </a:lnSpc>
            </a:pPr>
            <a:r>
              <a:rPr lang="en-US" sz="3600">
                <a:solidFill>
                  <a:srgbClr val="290606"/>
                </a:solidFill>
                <a:latin typeface="Cheddar"/>
                <a:ea typeface="Cheddar"/>
                <a:cs typeface="Cheddar"/>
                <a:sym typeface="Cheddar"/>
              </a:rPr>
              <a:t>Data augmentation</a:t>
            </a:r>
          </a:p>
        </p:txBody>
      </p:sp>
      <p:sp>
        <p:nvSpPr>
          <p:cNvPr name="TextBox 5" id="5"/>
          <p:cNvSpPr txBox="true"/>
          <p:nvPr/>
        </p:nvSpPr>
        <p:spPr>
          <a:xfrm rot="0">
            <a:off x="7428854" y="4340882"/>
            <a:ext cx="3430292" cy="563484"/>
          </a:xfrm>
          <a:prstGeom prst="rect">
            <a:avLst/>
          </a:prstGeom>
        </p:spPr>
        <p:txBody>
          <a:bodyPr anchor="t" rtlCol="false" tIns="0" lIns="0" bIns="0" rIns="0">
            <a:spAutoFit/>
          </a:bodyPr>
          <a:lstStyle/>
          <a:p>
            <a:pPr algn="ctr" marL="0" indent="0" lvl="0">
              <a:lnSpc>
                <a:spcPts val="3708"/>
              </a:lnSpc>
              <a:spcBef>
                <a:spcPct val="0"/>
              </a:spcBef>
            </a:pPr>
            <a:r>
              <a:rPr lang="en-US" sz="3600" strike="noStrike" u="none">
                <a:solidFill>
                  <a:srgbClr val="290606"/>
                </a:solidFill>
                <a:latin typeface="Cheddar"/>
                <a:ea typeface="Cheddar"/>
                <a:cs typeface="Cheddar"/>
                <a:sym typeface="Cheddar"/>
              </a:rPr>
              <a:t>a</a:t>
            </a:r>
            <a:r>
              <a:rPr lang="en-US" sz="3600" strike="noStrike" u="none">
                <a:solidFill>
                  <a:srgbClr val="290606"/>
                </a:solidFill>
                <a:latin typeface="Cheddar"/>
                <a:ea typeface="Cheddar"/>
                <a:cs typeface="Cheddar"/>
                <a:sym typeface="Cheddar"/>
              </a:rPr>
              <a:t>u</a:t>
            </a:r>
            <a:r>
              <a:rPr lang="en-US" sz="3600" strike="noStrike" u="none">
                <a:solidFill>
                  <a:srgbClr val="290606"/>
                </a:solidFill>
                <a:latin typeface="Cheddar"/>
                <a:ea typeface="Cheddar"/>
                <a:cs typeface="Cheddar"/>
                <a:sym typeface="Cheddar"/>
              </a:rPr>
              <a:t>t</a:t>
            </a:r>
            <a:r>
              <a:rPr lang="en-US" sz="3600" strike="noStrike" u="none">
                <a:solidFill>
                  <a:srgbClr val="290606"/>
                </a:solidFill>
                <a:latin typeface="Cheddar"/>
                <a:ea typeface="Cheddar"/>
                <a:cs typeface="Cheddar"/>
                <a:sym typeface="Cheddar"/>
              </a:rPr>
              <a:t>o </a:t>
            </a:r>
            <a:r>
              <a:rPr lang="en-US" sz="3600" strike="noStrike" u="none">
                <a:solidFill>
                  <a:srgbClr val="290606"/>
                </a:solidFill>
                <a:latin typeface="Cheddar"/>
                <a:ea typeface="Cheddar"/>
                <a:cs typeface="Cheddar"/>
                <a:sym typeface="Cheddar"/>
              </a:rPr>
              <a:t>c</a:t>
            </a:r>
            <a:r>
              <a:rPr lang="en-US" sz="3600" strike="noStrike" u="none">
                <a:solidFill>
                  <a:srgbClr val="290606"/>
                </a:solidFill>
                <a:latin typeface="Cheddar"/>
                <a:ea typeface="Cheddar"/>
                <a:cs typeface="Cheddar"/>
                <a:sym typeface="Cheddar"/>
              </a:rPr>
              <a:t>ropping</a:t>
            </a:r>
          </a:p>
        </p:txBody>
      </p:sp>
      <p:sp>
        <p:nvSpPr>
          <p:cNvPr name="TextBox 6" id="6"/>
          <p:cNvSpPr txBox="true"/>
          <p:nvPr/>
        </p:nvSpPr>
        <p:spPr>
          <a:xfrm rot="0">
            <a:off x="6103497" y="5132966"/>
            <a:ext cx="6081005" cy="1790137"/>
          </a:xfrm>
          <a:prstGeom prst="rect">
            <a:avLst/>
          </a:prstGeom>
        </p:spPr>
        <p:txBody>
          <a:bodyPr anchor="t" rtlCol="false" tIns="0" lIns="0" bIns="0" rIns="0">
            <a:spAutoFit/>
          </a:bodyPr>
          <a:lstStyle/>
          <a:p>
            <a:pPr algn="ctr">
              <a:lnSpc>
                <a:spcPts val="3587"/>
              </a:lnSpc>
            </a:pPr>
            <a:r>
              <a:rPr lang="en-US" sz="2299">
                <a:solidFill>
                  <a:srgbClr val="290606"/>
                </a:solidFill>
                <a:latin typeface="Telegraf"/>
                <a:ea typeface="Telegraf"/>
                <a:cs typeface="Telegraf"/>
                <a:sym typeface="Telegraf"/>
              </a:rPr>
              <a:t>after yolo predict the bounding boxes for the train dataset we crop the bounding boxes then send it to CNN to make classes prediction</a:t>
            </a:r>
          </a:p>
        </p:txBody>
      </p:sp>
      <p:sp>
        <p:nvSpPr>
          <p:cNvPr name="TextBox 7" id="7"/>
          <p:cNvSpPr txBox="true"/>
          <p:nvPr/>
        </p:nvSpPr>
        <p:spPr>
          <a:xfrm rot="0">
            <a:off x="283713" y="5133801"/>
            <a:ext cx="4674903" cy="1342508"/>
          </a:xfrm>
          <a:prstGeom prst="rect">
            <a:avLst/>
          </a:prstGeom>
        </p:spPr>
        <p:txBody>
          <a:bodyPr anchor="t" rtlCol="false" tIns="0" lIns="0" bIns="0" rIns="0">
            <a:spAutoFit/>
          </a:bodyPr>
          <a:lstStyle/>
          <a:p>
            <a:pPr algn="ctr">
              <a:lnSpc>
                <a:spcPts val="3587"/>
              </a:lnSpc>
            </a:pPr>
            <a:r>
              <a:rPr lang="en-US" sz="2299">
                <a:solidFill>
                  <a:srgbClr val="290606"/>
                </a:solidFill>
                <a:latin typeface="Telegraf"/>
                <a:ea typeface="Telegraf"/>
                <a:cs typeface="Telegraf"/>
                <a:sym typeface="Telegraf"/>
              </a:rPr>
              <a:t> The dataset were augmented using ROBOFLOW + from yolo model</a:t>
            </a:r>
          </a:p>
        </p:txBody>
      </p:sp>
      <p:sp>
        <p:nvSpPr>
          <p:cNvPr name="TextBox 8" id="8"/>
          <p:cNvSpPr txBox="true"/>
          <p:nvPr/>
        </p:nvSpPr>
        <p:spPr>
          <a:xfrm rot="0">
            <a:off x="13741694" y="4427214"/>
            <a:ext cx="2968784" cy="563499"/>
          </a:xfrm>
          <a:prstGeom prst="rect">
            <a:avLst/>
          </a:prstGeom>
        </p:spPr>
        <p:txBody>
          <a:bodyPr anchor="t" rtlCol="false" tIns="0" lIns="0" bIns="0" rIns="0">
            <a:spAutoFit/>
          </a:bodyPr>
          <a:lstStyle/>
          <a:p>
            <a:pPr algn="ctr" marL="0" indent="0" lvl="0">
              <a:lnSpc>
                <a:spcPts val="3708"/>
              </a:lnSpc>
              <a:spcBef>
                <a:spcPct val="0"/>
              </a:spcBef>
            </a:pPr>
            <a:r>
              <a:rPr lang="en-US" sz="3600" strike="noStrike" u="none">
                <a:solidFill>
                  <a:srgbClr val="290606"/>
                </a:solidFill>
                <a:latin typeface="Cheddar"/>
                <a:ea typeface="Cheddar"/>
                <a:cs typeface="Cheddar"/>
                <a:sym typeface="Cheddar"/>
              </a:rPr>
              <a:t>Data Splitting</a:t>
            </a:r>
          </a:p>
        </p:txBody>
      </p:sp>
      <p:sp>
        <p:nvSpPr>
          <p:cNvPr name="TextBox 9" id="9"/>
          <p:cNvSpPr txBox="true"/>
          <p:nvPr/>
        </p:nvSpPr>
        <p:spPr>
          <a:xfrm rot="0">
            <a:off x="12526451" y="5133801"/>
            <a:ext cx="5399269" cy="1790137"/>
          </a:xfrm>
          <a:prstGeom prst="rect">
            <a:avLst/>
          </a:prstGeom>
        </p:spPr>
        <p:txBody>
          <a:bodyPr anchor="t" rtlCol="false" tIns="0" lIns="0" bIns="0" rIns="0">
            <a:spAutoFit/>
          </a:bodyPr>
          <a:lstStyle/>
          <a:p>
            <a:pPr algn="ctr">
              <a:lnSpc>
                <a:spcPts val="3587"/>
              </a:lnSpc>
            </a:pPr>
            <a:r>
              <a:rPr lang="en-US" sz="2299">
                <a:solidFill>
                  <a:srgbClr val="290606"/>
                </a:solidFill>
                <a:latin typeface="Telegraf"/>
                <a:ea typeface="Telegraf"/>
                <a:cs typeface="Telegraf"/>
                <a:sym typeface="Telegraf"/>
              </a:rPr>
              <a:t>The dataset was divided into (80%) training  and (20%) validation  subsets to evaluate model performance effectively.</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EEF4F3"/>
        </a:solidFill>
      </p:bgPr>
    </p:bg>
    <p:spTree>
      <p:nvGrpSpPr>
        <p:cNvPr id="1" name=""/>
        <p:cNvGrpSpPr/>
        <p:nvPr/>
      </p:nvGrpSpPr>
      <p:grpSpPr>
        <a:xfrm>
          <a:off x="0" y="0"/>
          <a:ext cx="0" cy="0"/>
          <a:chOff x="0" y="0"/>
          <a:chExt cx="0" cy="0"/>
        </a:xfrm>
      </p:grpSpPr>
      <p:sp>
        <p:nvSpPr>
          <p:cNvPr name="TextBox 2" id="2"/>
          <p:cNvSpPr txBox="true"/>
          <p:nvPr/>
        </p:nvSpPr>
        <p:spPr>
          <a:xfrm rot="0">
            <a:off x="3761330" y="4097979"/>
            <a:ext cx="10765340" cy="1990039"/>
          </a:xfrm>
          <a:prstGeom prst="rect">
            <a:avLst/>
          </a:prstGeom>
        </p:spPr>
        <p:txBody>
          <a:bodyPr anchor="t" rtlCol="false" tIns="0" lIns="0" bIns="0" rIns="0">
            <a:spAutoFit/>
          </a:bodyPr>
          <a:lstStyle/>
          <a:p>
            <a:pPr algn="ctr">
              <a:lnSpc>
                <a:spcPts val="13098"/>
              </a:lnSpc>
            </a:pPr>
            <a:r>
              <a:rPr lang="en-US" sz="13098" spc="641">
                <a:solidFill>
                  <a:srgbClr val="290606"/>
                </a:solidFill>
                <a:latin typeface="Cheddar"/>
                <a:ea typeface="Cheddar"/>
                <a:cs typeface="Cheddar"/>
                <a:sym typeface="Cheddar"/>
              </a:rPr>
              <a:t>METHEDOLOGY </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EEF4F3"/>
        </a:solidFill>
      </p:bgPr>
    </p:bg>
    <p:spTree>
      <p:nvGrpSpPr>
        <p:cNvPr id="1" name=""/>
        <p:cNvGrpSpPr/>
        <p:nvPr/>
      </p:nvGrpSpPr>
      <p:grpSpPr>
        <a:xfrm>
          <a:off x="0" y="0"/>
          <a:ext cx="0" cy="0"/>
          <a:chOff x="0" y="0"/>
          <a:chExt cx="0" cy="0"/>
        </a:xfrm>
      </p:grpSpPr>
      <p:sp>
        <p:nvSpPr>
          <p:cNvPr name="TextBox 2" id="2"/>
          <p:cNvSpPr txBox="true"/>
          <p:nvPr/>
        </p:nvSpPr>
        <p:spPr>
          <a:xfrm rot="0">
            <a:off x="841909" y="219153"/>
            <a:ext cx="16604181" cy="1990039"/>
          </a:xfrm>
          <a:prstGeom prst="rect">
            <a:avLst/>
          </a:prstGeom>
        </p:spPr>
        <p:txBody>
          <a:bodyPr anchor="t" rtlCol="false" tIns="0" lIns="0" bIns="0" rIns="0">
            <a:spAutoFit/>
          </a:bodyPr>
          <a:lstStyle/>
          <a:p>
            <a:pPr algn="ctr">
              <a:lnSpc>
                <a:spcPts val="13098"/>
              </a:lnSpc>
            </a:pPr>
            <a:r>
              <a:rPr lang="en-US" sz="13098" spc="641">
                <a:solidFill>
                  <a:srgbClr val="290606"/>
                </a:solidFill>
                <a:latin typeface="Cheddar"/>
                <a:ea typeface="Cheddar"/>
                <a:cs typeface="Cheddar"/>
                <a:sym typeface="Cheddar"/>
              </a:rPr>
              <a:t>INITIAL APPROACH</a:t>
            </a:r>
          </a:p>
        </p:txBody>
      </p:sp>
      <p:grpSp>
        <p:nvGrpSpPr>
          <p:cNvPr name="Group 3" id="3"/>
          <p:cNvGrpSpPr/>
          <p:nvPr/>
        </p:nvGrpSpPr>
        <p:grpSpPr>
          <a:xfrm rot="0">
            <a:off x="546494" y="2603709"/>
            <a:ext cx="16643192" cy="6029789"/>
            <a:chOff x="0" y="0"/>
            <a:chExt cx="3972734" cy="1439312"/>
          </a:xfrm>
        </p:grpSpPr>
        <p:sp>
          <p:nvSpPr>
            <p:cNvPr name="Freeform 4" id="4"/>
            <p:cNvSpPr/>
            <p:nvPr/>
          </p:nvSpPr>
          <p:spPr>
            <a:xfrm flipH="false" flipV="false" rot="0">
              <a:off x="0" y="0"/>
              <a:ext cx="3972734" cy="1439312"/>
            </a:xfrm>
            <a:custGeom>
              <a:avLst/>
              <a:gdLst/>
              <a:ahLst/>
              <a:cxnLst/>
              <a:rect r="r" b="b" t="t" l="l"/>
              <a:pathLst>
                <a:path h="1439312" w="3972734">
                  <a:moveTo>
                    <a:pt x="23724" y="0"/>
                  </a:moveTo>
                  <a:lnTo>
                    <a:pt x="3949011" y="0"/>
                  </a:lnTo>
                  <a:cubicBezTo>
                    <a:pt x="3955302" y="0"/>
                    <a:pt x="3961336" y="2499"/>
                    <a:pt x="3965786" y="6949"/>
                  </a:cubicBezTo>
                  <a:cubicBezTo>
                    <a:pt x="3970235" y="11398"/>
                    <a:pt x="3972734" y="17432"/>
                    <a:pt x="3972734" y="23724"/>
                  </a:cubicBezTo>
                  <a:lnTo>
                    <a:pt x="3972734" y="1415589"/>
                  </a:lnTo>
                  <a:cubicBezTo>
                    <a:pt x="3972734" y="1421880"/>
                    <a:pt x="3970235" y="1427915"/>
                    <a:pt x="3965786" y="1432364"/>
                  </a:cubicBezTo>
                  <a:cubicBezTo>
                    <a:pt x="3961336" y="1436813"/>
                    <a:pt x="3955302" y="1439312"/>
                    <a:pt x="3949011" y="1439312"/>
                  </a:cubicBezTo>
                  <a:lnTo>
                    <a:pt x="23724" y="1439312"/>
                  </a:lnTo>
                  <a:cubicBezTo>
                    <a:pt x="17432" y="1439312"/>
                    <a:pt x="11398" y="1436813"/>
                    <a:pt x="6949" y="1432364"/>
                  </a:cubicBezTo>
                  <a:cubicBezTo>
                    <a:pt x="2499" y="1427915"/>
                    <a:pt x="0" y="1421880"/>
                    <a:pt x="0" y="1415589"/>
                  </a:cubicBezTo>
                  <a:lnTo>
                    <a:pt x="0" y="23724"/>
                  </a:lnTo>
                  <a:cubicBezTo>
                    <a:pt x="0" y="17432"/>
                    <a:pt x="2499" y="11398"/>
                    <a:pt x="6949" y="6949"/>
                  </a:cubicBezTo>
                  <a:cubicBezTo>
                    <a:pt x="11398" y="2499"/>
                    <a:pt x="17432" y="0"/>
                    <a:pt x="23724" y="0"/>
                  </a:cubicBezTo>
                  <a:close/>
                </a:path>
              </a:pathLst>
            </a:custGeom>
            <a:solidFill>
              <a:srgbClr val="02B676"/>
            </a:solidFill>
          </p:spPr>
        </p:sp>
        <p:sp>
          <p:nvSpPr>
            <p:cNvPr name="TextBox 5" id="5"/>
            <p:cNvSpPr txBox="true"/>
            <p:nvPr/>
          </p:nvSpPr>
          <p:spPr>
            <a:xfrm>
              <a:off x="0" y="9525"/>
              <a:ext cx="3972734" cy="1429787"/>
            </a:xfrm>
            <a:prstGeom prst="rect">
              <a:avLst/>
            </a:prstGeom>
          </p:spPr>
          <p:txBody>
            <a:bodyPr anchor="ctr" rtlCol="false" tIns="50800" lIns="50800" bIns="50800" rIns="50800"/>
            <a:lstStyle/>
            <a:p>
              <a:pPr algn="ctr">
                <a:lnSpc>
                  <a:spcPts val="2200"/>
                </a:lnSpc>
              </a:pPr>
            </a:p>
          </p:txBody>
        </p:sp>
      </p:grpSp>
      <p:grpSp>
        <p:nvGrpSpPr>
          <p:cNvPr name="Group 6" id="6"/>
          <p:cNvGrpSpPr/>
          <p:nvPr/>
        </p:nvGrpSpPr>
        <p:grpSpPr>
          <a:xfrm rot="0">
            <a:off x="1232495" y="2843187"/>
            <a:ext cx="16509011" cy="5790312"/>
            <a:chOff x="0" y="0"/>
            <a:chExt cx="3940705" cy="1382149"/>
          </a:xfrm>
        </p:grpSpPr>
        <p:sp>
          <p:nvSpPr>
            <p:cNvPr name="Freeform 7" id="7"/>
            <p:cNvSpPr/>
            <p:nvPr/>
          </p:nvSpPr>
          <p:spPr>
            <a:xfrm flipH="false" flipV="false" rot="0">
              <a:off x="0" y="0"/>
              <a:ext cx="3940705" cy="1382149"/>
            </a:xfrm>
            <a:custGeom>
              <a:avLst/>
              <a:gdLst/>
              <a:ahLst/>
              <a:cxnLst/>
              <a:rect r="r" b="b" t="t" l="l"/>
              <a:pathLst>
                <a:path h="1382149" w="3940705">
                  <a:moveTo>
                    <a:pt x="23917" y="0"/>
                  </a:moveTo>
                  <a:lnTo>
                    <a:pt x="3916789" y="0"/>
                  </a:lnTo>
                  <a:cubicBezTo>
                    <a:pt x="3923132" y="0"/>
                    <a:pt x="3929215" y="2520"/>
                    <a:pt x="3933700" y="7005"/>
                  </a:cubicBezTo>
                  <a:cubicBezTo>
                    <a:pt x="3938186" y="11490"/>
                    <a:pt x="3940705" y="17573"/>
                    <a:pt x="3940705" y="23917"/>
                  </a:cubicBezTo>
                  <a:lnTo>
                    <a:pt x="3940705" y="1358232"/>
                  </a:lnTo>
                  <a:cubicBezTo>
                    <a:pt x="3940705" y="1364575"/>
                    <a:pt x="3938186" y="1370659"/>
                    <a:pt x="3933700" y="1375144"/>
                  </a:cubicBezTo>
                  <a:cubicBezTo>
                    <a:pt x="3929215" y="1379629"/>
                    <a:pt x="3923132" y="1382149"/>
                    <a:pt x="3916789" y="1382149"/>
                  </a:cubicBezTo>
                  <a:lnTo>
                    <a:pt x="23917" y="1382149"/>
                  </a:lnTo>
                  <a:cubicBezTo>
                    <a:pt x="17573" y="1382149"/>
                    <a:pt x="11490" y="1379629"/>
                    <a:pt x="7005" y="1375144"/>
                  </a:cubicBezTo>
                  <a:cubicBezTo>
                    <a:pt x="2520" y="1370659"/>
                    <a:pt x="0" y="1364575"/>
                    <a:pt x="0" y="1358232"/>
                  </a:cubicBezTo>
                  <a:lnTo>
                    <a:pt x="0" y="23917"/>
                  </a:lnTo>
                  <a:cubicBezTo>
                    <a:pt x="0" y="17573"/>
                    <a:pt x="2520" y="11490"/>
                    <a:pt x="7005" y="7005"/>
                  </a:cubicBezTo>
                  <a:cubicBezTo>
                    <a:pt x="11490" y="2520"/>
                    <a:pt x="17573" y="0"/>
                    <a:pt x="23917" y="0"/>
                  </a:cubicBezTo>
                  <a:close/>
                </a:path>
              </a:pathLst>
            </a:custGeom>
            <a:solidFill>
              <a:srgbClr val="FFFFFF"/>
            </a:solidFill>
          </p:spPr>
        </p:sp>
        <p:sp>
          <p:nvSpPr>
            <p:cNvPr name="TextBox 8" id="8"/>
            <p:cNvSpPr txBox="true"/>
            <p:nvPr/>
          </p:nvSpPr>
          <p:spPr>
            <a:xfrm>
              <a:off x="0" y="9525"/>
              <a:ext cx="3940705" cy="1372624"/>
            </a:xfrm>
            <a:prstGeom prst="rect">
              <a:avLst/>
            </a:prstGeom>
          </p:spPr>
          <p:txBody>
            <a:bodyPr anchor="ctr" rtlCol="false" tIns="50800" lIns="50800" bIns="50800" rIns="50800"/>
            <a:lstStyle/>
            <a:p>
              <a:pPr algn="ctr">
                <a:lnSpc>
                  <a:spcPts val="2200"/>
                </a:lnSpc>
              </a:pPr>
            </a:p>
          </p:txBody>
        </p:sp>
      </p:grpSp>
      <p:sp>
        <p:nvSpPr>
          <p:cNvPr name="TextBox 9" id="9"/>
          <p:cNvSpPr txBox="true"/>
          <p:nvPr/>
        </p:nvSpPr>
        <p:spPr>
          <a:xfrm rot="0">
            <a:off x="1519595" y="4062250"/>
            <a:ext cx="15934810" cy="2941257"/>
          </a:xfrm>
          <a:prstGeom prst="rect">
            <a:avLst/>
          </a:prstGeom>
        </p:spPr>
        <p:txBody>
          <a:bodyPr anchor="t" rtlCol="false" tIns="0" lIns="0" bIns="0" rIns="0">
            <a:spAutoFit/>
          </a:bodyPr>
          <a:lstStyle/>
          <a:p>
            <a:pPr algn="l">
              <a:lnSpc>
                <a:spcPts val="5849"/>
              </a:lnSpc>
              <a:spcBef>
                <a:spcPct val="0"/>
              </a:spcBef>
            </a:pPr>
            <a:r>
              <a:rPr lang="en-US" sz="3798">
                <a:solidFill>
                  <a:srgbClr val="290606"/>
                </a:solidFill>
                <a:latin typeface="Telegraf"/>
                <a:ea typeface="Telegraf"/>
                <a:cs typeface="Telegraf"/>
                <a:sym typeface="Telegraf"/>
              </a:rPr>
              <a:t>YOLOv8 Detection: We initially start with </a:t>
            </a:r>
            <a:r>
              <a:rPr lang="en-US" sz="3798">
                <a:solidFill>
                  <a:srgbClr val="290606"/>
                </a:solidFill>
                <a:latin typeface="Telegraf"/>
                <a:ea typeface="Telegraf"/>
                <a:cs typeface="Telegraf"/>
                <a:sym typeface="Telegraf"/>
              </a:rPr>
              <a:t>YOLOv8 for end-to-end detection and classification of road signs. While YOLOv8 performed well in identifying ‘Stop’ signs, it consistently failed to differentiate between ‘Left Turn’ and ‘Right Turn’.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EF4F3"/>
        </a:solidFill>
      </p:bgPr>
    </p:bg>
    <p:spTree>
      <p:nvGrpSpPr>
        <p:cNvPr id="1" name=""/>
        <p:cNvGrpSpPr/>
        <p:nvPr/>
      </p:nvGrpSpPr>
      <p:grpSpPr>
        <a:xfrm>
          <a:off x="0" y="0"/>
          <a:ext cx="0" cy="0"/>
          <a:chOff x="0" y="0"/>
          <a:chExt cx="0" cy="0"/>
        </a:xfrm>
      </p:grpSpPr>
      <p:sp>
        <p:nvSpPr>
          <p:cNvPr name="Freeform 2" id="2"/>
          <p:cNvSpPr/>
          <p:nvPr/>
        </p:nvSpPr>
        <p:spPr>
          <a:xfrm flipH="false" flipV="false" rot="0">
            <a:off x="1962848" y="0"/>
            <a:ext cx="14362304" cy="10287000"/>
          </a:xfrm>
          <a:custGeom>
            <a:avLst/>
            <a:gdLst/>
            <a:ahLst/>
            <a:cxnLst/>
            <a:rect r="r" b="b" t="t" l="l"/>
            <a:pathLst>
              <a:path h="10287000" w="14362304">
                <a:moveTo>
                  <a:pt x="0" y="0"/>
                </a:moveTo>
                <a:lnTo>
                  <a:pt x="14362304" y="0"/>
                </a:lnTo>
                <a:lnTo>
                  <a:pt x="14362304" y="10287000"/>
                </a:lnTo>
                <a:lnTo>
                  <a:pt x="0" y="10287000"/>
                </a:lnTo>
                <a:lnTo>
                  <a:pt x="0" y="0"/>
                </a:lnTo>
                <a:close/>
              </a:path>
            </a:pathLst>
          </a:custGeom>
          <a:blipFill>
            <a:blip r:embed="rId2"/>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p:cSld>
    <p:bg>
      <p:bgPr>
        <a:solidFill>
          <a:srgbClr val="EEF4F3"/>
        </a:solidFill>
      </p:bgPr>
    </p:bg>
    <p:spTree>
      <p:nvGrpSpPr>
        <p:cNvPr id="1" name=""/>
        <p:cNvGrpSpPr/>
        <p:nvPr/>
      </p:nvGrpSpPr>
      <p:grpSpPr>
        <a:xfrm>
          <a:off x="0" y="0"/>
          <a:ext cx="0" cy="0"/>
          <a:chOff x="0" y="0"/>
          <a:chExt cx="0" cy="0"/>
        </a:xfrm>
      </p:grpSpPr>
      <p:sp>
        <p:nvSpPr>
          <p:cNvPr name="TextBox 2" id="2"/>
          <p:cNvSpPr txBox="true"/>
          <p:nvPr/>
        </p:nvSpPr>
        <p:spPr>
          <a:xfrm rot="0">
            <a:off x="841909" y="732025"/>
            <a:ext cx="16604181" cy="1566583"/>
          </a:xfrm>
          <a:prstGeom prst="rect">
            <a:avLst/>
          </a:prstGeom>
        </p:spPr>
        <p:txBody>
          <a:bodyPr anchor="t" rtlCol="false" tIns="0" lIns="0" bIns="0" rIns="0">
            <a:spAutoFit/>
          </a:bodyPr>
          <a:lstStyle/>
          <a:p>
            <a:pPr algn="ctr">
              <a:lnSpc>
                <a:spcPts val="10299"/>
              </a:lnSpc>
            </a:pPr>
            <a:r>
              <a:rPr lang="en-US" sz="10299" spc="504">
                <a:solidFill>
                  <a:srgbClr val="290606"/>
                </a:solidFill>
                <a:latin typeface="Cheddar"/>
                <a:ea typeface="Cheddar"/>
                <a:cs typeface="Cheddar"/>
                <a:sym typeface="Cheddar"/>
              </a:rPr>
              <a:t>PROBLEM RESOLUTION STRATEGY</a:t>
            </a:r>
          </a:p>
        </p:txBody>
      </p:sp>
      <p:grpSp>
        <p:nvGrpSpPr>
          <p:cNvPr name="Group 3" id="3"/>
          <p:cNvGrpSpPr/>
          <p:nvPr/>
        </p:nvGrpSpPr>
        <p:grpSpPr>
          <a:xfrm rot="0">
            <a:off x="546494" y="2978499"/>
            <a:ext cx="16643192" cy="6029789"/>
            <a:chOff x="0" y="0"/>
            <a:chExt cx="3972734" cy="1439312"/>
          </a:xfrm>
        </p:grpSpPr>
        <p:sp>
          <p:nvSpPr>
            <p:cNvPr name="Freeform 4" id="4"/>
            <p:cNvSpPr/>
            <p:nvPr/>
          </p:nvSpPr>
          <p:spPr>
            <a:xfrm flipH="false" flipV="false" rot="0">
              <a:off x="0" y="0"/>
              <a:ext cx="3972734" cy="1439312"/>
            </a:xfrm>
            <a:custGeom>
              <a:avLst/>
              <a:gdLst/>
              <a:ahLst/>
              <a:cxnLst/>
              <a:rect r="r" b="b" t="t" l="l"/>
              <a:pathLst>
                <a:path h="1439312" w="3972734">
                  <a:moveTo>
                    <a:pt x="23724" y="0"/>
                  </a:moveTo>
                  <a:lnTo>
                    <a:pt x="3949011" y="0"/>
                  </a:lnTo>
                  <a:cubicBezTo>
                    <a:pt x="3955302" y="0"/>
                    <a:pt x="3961336" y="2499"/>
                    <a:pt x="3965786" y="6949"/>
                  </a:cubicBezTo>
                  <a:cubicBezTo>
                    <a:pt x="3970235" y="11398"/>
                    <a:pt x="3972734" y="17432"/>
                    <a:pt x="3972734" y="23724"/>
                  </a:cubicBezTo>
                  <a:lnTo>
                    <a:pt x="3972734" y="1415589"/>
                  </a:lnTo>
                  <a:cubicBezTo>
                    <a:pt x="3972734" y="1421880"/>
                    <a:pt x="3970235" y="1427915"/>
                    <a:pt x="3965786" y="1432364"/>
                  </a:cubicBezTo>
                  <a:cubicBezTo>
                    <a:pt x="3961336" y="1436813"/>
                    <a:pt x="3955302" y="1439312"/>
                    <a:pt x="3949011" y="1439312"/>
                  </a:cubicBezTo>
                  <a:lnTo>
                    <a:pt x="23724" y="1439312"/>
                  </a:lnTo>
                  <a:cubicBezTo>
                    <a:pt x="17432" y="1439312"/>
                    <a:pt x="11398" y="1436813"/>
                    <a:pt x="6949" y="1432364"/>
                  </a:cubicBezTo>
                  <a:cubicBezTo>
                    <a:pt x="2499" y="1427915"/>
                    <a:pt x="0" y="1421880"/>
                    <a:pt x="0" y="1415589"/>
                  </a:cubicBezTo>
                  <a:lnTo>
                    <a:pt x="0" y="23724"/>
                  </a:lnTo>
                  <a:cubicBezTo>
                    <a:pt x="0" y="17432"/>
                    <a:pt x="2499" y="11398"/>
                    <a:pt x="6949" y="6949"/>
                  </a:cubicBezTo>
                  <a:cubicBezTo>
                    <a:pt x="11398" y="2499"/>
                    <a:pt x="17432" y="0"/>
                    <a:pt x="23724" y="0"/>
                  </a:cubicBezTo>
                  <a:close/>
                </a:path>
              </a:pathLst>
            </a:custGeom>
            <a:solidFill>
              <a:srgbClr val="02B676"/>
            </a:solidFill>
          </p:spPr>
        </p:sp>
        <p:sp>
          <p:nvSpPr>
            <p:cNvPr name="TextBox 5" id="5"/>
            <p:cNvSpPr txBox="true"/>
            <p:nvPr/>
          </p:nvSpPr>
          <p:spPr>
            <a:xfrm>
              <a:off x="0" y="9525"/>
              <a:ext cx="3972734" cy="1429787"/>
            </a:xfrm>
            <a:prstGeom prst="rect">
              <a:avLst/>
            </a:prstGeom>
          </p:spPr>
          <p:txBody>
            <a:bodyPr anchor="ctr" rtlCol="false" tIns="50800" lIns="50800" bIns="50800" rIns="50800"/>
            <a:lstStyle/>
            <a:p>
              <a:pPr algn="ctr">
                <a:lnSpc>
                  <a:spcPts val="2200"/>
                </a:lnSpc>
              </a:pPr>
            </a:p>
          </p:txBody>
        </p:sp>
      </p:grpSp>
      <p:grpSp>
        <p:nvGrpSpPr>
          <p:cNvPr name="Group 6" id="6"/>
          <p:cNvGrpSpPr/>
          <p:nvPr/>
        </p:nvGrpSpPr>
        <p:grpSpPr>
          <a:xfrm rot="0">
            <a:off x="1232495" y="3217977"/>
            <a:ext cx="16509011" cy="5790312"/>
            <a:chOff x="0" y="0"/>
            <a:chExt cx="3940705" cy="1382149"/>
          </a:xfrm>
        </p:grpSpPr>
        <p:sp>
          <p:nvSpPr>
            <p:cNvPr name="Freeform 7" id="7"/>
            <p:cNvSpPr/>
            <p:nvPr/>
          </p:nvSpPr>
          <p:spPr>
            <a:xfrm flipH="false" flipV="false" rot="0">
              <a:off x="0" y="0"/>
              <a:ext cx="3940705" cy="1382149"/>
            </a:xfrm>
            <a:custGeom>
              <a:avLst/>
              <a:gdLst/>
              <a:ahLst/>
              <a:cxnLst/>
              <a:rect r="r" b="b" t="t" l="l"/>
              <a:pathLst>
                <a:path h="1382149" w="3940705">
                  <a:moveTo>
                    <a:pt x="23917" y="0"/>
                  </a:moveTo>
                  <a:lnTo>
                    <a:pt x="3916789" y="0"/>
                  </a:lnTo>
                  <a:cubicBezTo>
                    <a:pt x="3923132" y="0"/>
                    <a:pt x="3929215" y="2520"/>
                    <a:pt x="3933700" y="7005"/>
                  </a:cubicBezTo>
                  <a:cubicBezTo>
                    <a:pt x="3938186" y="11490"/>
                    <a:pt x="3940705" y="17573"/>
                    <a:pt x="3940705" y="23917"/>
                  </a:cubicBezTo>
                  <a:lnTo>
                    <a:pt x="3940705" y="1358232"/>
                  </a:lnTo>
                  <a:cubicBezTo>
                    <a:pt x="3940705" y="1364575"/>
                    <a:pt x="3938186" y="1370659"/>
                    <a:pt x="3933700" y="1375144"/>
                  </a:cubicBezTo>
                  <a:cubicBezTo>
                    <a:pt x="3929215" y="1379629"/>
                    <a:pt x="3923132" y="1382149"/>
                    <a:pt x="3916789" y="1382149"/>
                  </a:cubicBezTo>
                  <a:lnTo>
                    <a:pt x="23917" y="1382149"/>
                  </a:lnTo>
                  <a:cubicBezTo>
                    <a:pt x="17573" y="1382149"/>
                    <a:pt x="11490" y="1379629"/>
                    <a:pt x="7005" y="1375144"/>
                  </a:cubicBezTo>
                  <a:cubicBezTo>
                    <a:pt x="2520" y="1370659"/>
                    <a:pt x="0" y="1364575"/>
                    <a:pt x="0" y="1358232"/>
                  </a:cubicBezTo>
                  <a:lnTo>
                    <a:pt x="0" y="23917"/>
                  </a:lnTo>
                  <a:cubicBezTo>
                    <a:pt x="0" y="17573"/>
                    <a:pt x="2520" y="11490"/>
                    <a:pt x="7005" y="7005"/>
                  </a:cubicBezTo>
                  <a:cubicBezTo>
                    <a:pt x="11490" y="2520"/>
                    <a:pt x="17573" y="0"/>
                    <a:pt x="23917" y="0"/>
                  </a:cubicBezTo>
                  <a:close/>
                </a:path>
              </a:pathLst>
            </a:custGeom>
            <a:solidFill>
              <a:srgbClr val="FFFFFF"/>
            </a:solidFill>
          </p:spPr>
        </p:sp>
        <p:sp>
          <p:nvSpPr>
            <p:cNvPr name="TextBox 8" id="8"/>
            <p:cNvSpPr txBox="true"/>
            <p:nvPr/>
          </p:nvSpPr>
          <p:spPr>
            <a:xfrm>
              <a:off x="0" y="9525"/>
              <a:ext cx="3940705" cy="1372624"/>
            </a:xfrm>
            <a:prstGeom prst="rect">
              <a:avLst/>
            </a:prstGeom>
          </p:spPr>
          <p:txBody>
            <a:bodyPr anchor="ctr" rtlCol="false" tIns="50800" lIns="50800" bIns="50800" rIns="50800"/>
            <a:lstStyle/>
            <a:p>
              <a:pPr algn="ctr">
                <a:lnSpc>
                  <a:spcPts val="2200"/>
                </a:lnSpc>
              </a:pPr>
            </a:p>
          </p:txBody>
        </p:sp>
      </p:grpSp>
      <p:sp>
        <p:nvSpPr>
          <p:cNvPr name="TextBox 9" id="9"/>
          <p:cNvSpPr txBox="true"/>
          <p:nvPr/>
        </p:nvSpPr>
        <p:spPr>
          <a:xfrm rot="0">
            <a:off x="1391396" y="3664020"/>
            <a:ext cx="16509011" cy="672334"/>
          </a:xfrm>
          <a:prstGeom prst="rect">
            <a:avLst/>
          </a:prstGeom>
        </p:spPr>
        <p:txBody>
          <a:bodyPr anchor="t" rtlCol="false" tIns="0" lIns="0" bIns="0" rIns="0">
            <a:spAutoFit/>
          </a:bodyPr>
          <a:lstStyle/>
          <a:p>
            <a:pPr algn="l">
              <a:lnSpc>
                <a:spcPts val="5237"/>
              </a:lnSpc>
              <a:spcBef>
                <a:spcPct val="0"/>
              </a:spcBef>
            </a:pPr>
            <a:r>
              <a:rPr lang="en-US" sz="3400">
                <a:solidFill>
                  <a:srgbClr val="290606"/>
                </a:solidFill>
                <a:latin typeface="Telegraf"/>
                <a:ea typeface="Telegraf"/>
                <a:cs typeface="Telegraf"/>
                <a:sym typeface="Telegraf"/>
              </a:rPr>
              <a:t>To solve this p</a:t>
            </a:r>
            <a:r>
              <a:rPr lang="en-US" sz="3400">
                <a:solidFill>
                  <a:srgbClr val="290606"/>
                </a:solidFill>
                <a:latin typeface="Telegraf"/>
                <a:ea typeface="Telegraf"/>
                <a:cs typeface="Telegraf"/>
                <a:sym typeface="Telegraf"/>
              </a:rPr>
              <a:t>roblem, we tried 2 attempts:</a:t>
            </a:r>
          </a:p>
        </p:txBody>
      </p:sp>
      <p:sp>
        <p:nvSpPr>
          <p:cNvPr name="TextBox 10" id="10"/>
          <p:cNvSpPr txBox="true"/>
          <p:nvPr/>
        </p:nvSpPr>
        <p:spPr>
          <a:xfrm rot="0">
            <a:off x="1028700" y="4843995"/>
            <a:ext cx="16064104" cy="2941257"/>
          </a:xfrm>
          <a:prstGeom prst="rect">
            <a:avLst/>
          </a:prstGeom>
        </p:spPr>
        <p:txBody>
          <a:bodyPr anchor="t" rtlCol="false" tIns="0" lIns="0" bIns="0" rIns="0">
            <a:spAutoFit/>
          </a:bodyPr>
          <a:lstStyle/>
          <a:p>
            <a:pPr algn="l" marL="820076" indent="-410038" lvl="1">
              <a:lnSpc>
                <a:spcPts val="5849"/>
              </a:lnSpc>
              <a:buFont typeface="Arial"/>
              <a:buChar char="•"/>
            </a:pPr>
            <a:r>
              <a:rPr lang="en-US" sz="3798">
                <a:solidFill>
                  <a:srgbClr val="290606"/>
                </a:solidFill>
                <a:latin typeface="Telegraf"/>
                <a:ea typeface="Telegraf"/>
                <a:cs typeface="Telegraf"/>
                <a:sym typeface="Telegraf"/>
              </a:rPr>
              <a:t>We first attempted to improve YOLO’s classification through traditional data augmentation using built-in YOLO augmentation settings. </a:t>
            </a:r>
          </a:p>
          <a:p>
            <a:pPr algn="l" marL="820076" indent="-410038" lvl="1">
              <a:lnSpc>
                <a:spcPts val="5849"/>
              </a:lnSpc>
              <a:buFont typeface="Arial"/>
              <a:buChar char="•"/>
            </a:pPr>
            <a:r>
              <a:rPr lang="en-US" sz="3798">
                <a:solidFill>
                  <a:srgbClr val="290606"/>
                </a:solidFill>
                <a:latin typeface="Telegraf"/>
                <a:ea typeface="Telegraf"/>
                <a:cs typeface="Telegraf"/>
                <a:sym typeface="Telegraf"/>
              </a:rPr>
              <a:t>CNN-Based Classification</a:t>
            </a:r>
            <a:r>
              <a:rPr lang="en-US" sz="3798">
                <a:solidFill>
                  <a:srgbClr val="290606"/>
                </a:solidFill>
                <a:latin typeface="Telegraf"/>
                <a:ea typeface="Telegraf"/>
                <a:cs typeface="Telegraf"/>
                <a:sym typeface="Telegraf"/>
              </a:rPr>
              <a:t> on YOLO Crops (Effective)</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EEF4F3"/>
        </a:solidFill>
      </p:bgPr>
    </p:bg>
    <p:spTree>
      <p:nvGrpSpPr>
        <p:cNvPr id="1" name=""/>
        <p:cNvGrpSpPr/>
        <p:nvPr/>
      </p:nvGrpSpPr>
      <p:grpSpPr>
        <a:xfrm>
          <a:off x="0" y="0"/>
          <a:ext cx="0" cy="0"/>
          <a:chOff x="0" y="0"/>
          <a:chExt cx="0" cy="0"/>
        </a:xfrm>
      </p:grpSpPr>
      <p:sp>
        <p:nvSpPr>
          <p:cNvPr name="TextBox 2" id="2"/>
          <p:cNvSpPr txBox="true"/>
          <p:nvPr/>
        </p:nvSpPr>
        <p:spPr>
          <a:xfrm rot="0">
            <a:off x="841909" y="732025"/>
            <a:ext cx="16604181" cy="1566583"/>
          </a:xfrm>
          <a:prstGeom prst="rect">
            <a:avLst/>
          </a:prstGeom>
        </p:spPr>
        <p:txBody>
          <a:bodyPr anchor="t" rtlCol="false" tIns="0" lIns="0" bIns="0" rIns="0">
            <a:spAutoFit/>
          </a:bodyPr>
          <a:lstStyle/>
          <a:p>
            <a:pPr algn="ctr">
              <a:lnSpc>
                <a:spcPts val="10299"/>
              </a:lnSpc>
            </a:pPr>
            <a:r>
              <a:rPr lang="en-US" sz="10299" spc="504">
                <a:solidFill>
                  <a:srgbClr val="290606"/>
                </a:solidFill>
                <a:latin typeface="Cheddar"/>
                <a:ea typeface="Cheddar"/>
                <a:cs typeface="Cheddar"/>
                <a:sym typeface="Cheddar"/>
              </a:rPr>
              <a:t>FINAL INTEGRATED SYSTEM</a:t>
            </a:r>
          </a:p>
        </p:txBody>
      </p:sp>
      <p:grpSp>
        <p:nvGrpSpPr>
          <p:cNvPr name="Group 3" id="3"/>
          <p:cNvGrpSpPr/>
          <p:nvPr/>
        </p:nvGrpSpPr>
        <p:grpSpPr>
          <a:xfrm rot="0">
            <a:off x="546494" y="2978499"/>
            <a:ext cx="16643192" cy="6029789"/>
            <a:chOff x="0" y="0"/>
            <a:chExt cx="3972734" cy="1439312"/>
          </a:xfrm>
        </p:grpSpPr>
        <p:sp>
          <p:nvSpPr>
            <p:cNvPr name="Freeform 4" id="4"/>
            <p:cNvSpPr/>
            <p:nvPr/>
          </p:nvSpPr>
          <p:spPr>
            <a:xfrm flipH="false" flipV="false" rot="0">
              <a:off x="0" y="0"/>
              <a:ext cx="3972734" cy="1439312"/>
            </a:xfrm>
            <a:custGeom>
              <a:avLst/>
              <a:gdLst/>
              <a:ahLst/>
              <a:cxnLst/>
              <a:rect r="r" b="b" t="t" l="l"/>
              <a:pathLst>
                <a:path h="1439312" w="3972734">
                  <a:moveTo>
                    <a:pt x="23724" y="0"/>
                  </a:moveTo>
                  <a:lnTo>
                    <a:pt x="3949011" y="0"/>
                  </a:lnTo>
                  <a:cubicBezTo>
                    <a:pt x="3955302" y="0"/>
                    <a:pt x="3961336" y="2499"/>
                    <a:pt x="3965786" y="6949"/>
                  </a:cubicBezTo>
                  <a:cubicBezTo>
                    <a:pt x="3970235" y="11398"/>
                    <a:pt x="3972734" y="17432"/>
                    <a:pt x="3972734" y="23724"/>
                  </a:cubicBezTo>
                  <a:lnTo>
                    <a:pt x="3972734" y="1415589"/>
                  </a:lnTo>
                  <a:cubicBezTo>
                    <a:pt x="3972734" y="1421880"/>
                    <a:pt x="3970235" y="1427915"/>
                    <a:pt x="3965786" y="1432364"/>
                  </a:cubicBezTo>
                  <a:cubicBezTo>
                    <a:pt x="3961336" y="1436813"/>
                    <a:pt x="3955302" y="1439312"/>
                    <a:pt x="3949011" y="1439312"/>
                  </a:cubicBezTo>
                  <a:lnTo>
                    <a:pt x="23724" y="1439312"/>
                  </a:lnTo>
                  <a:cubicBezTo>
                    <a:pt x="17432" y="1439312"/>
                    <a:pt x="11398" y="1436813"/>
                    <a:pt x="6949" y="1432364"/>
                  </a:cubicBezTo>
                  <a:cubicBezTo>
                    <a:pt x="2499" y="1427915"/>
                    <a:pt x="0" y="1421880"/>
                    <a:pt x="0" y="1415589"/>
                  </a:cubicBezTo>
                  <a:lnTo>
                    <a:pt x="0" y="23724"/>
                  </a:lnTo>
                  <a:cubicBezTo>
                    <a:pt x="0" y="17432"/>
                    <a:pt x="2499" y="11398"/>
                    <a:pt x="6949" y="6949"/>
                  </a:cubicBezTo>
                  <a:cubicBezTo>
                    <a:pt x="11398" y="2499"/>
                    <a:pt x="17432" y="0"/>
                    <a:pt x="23724" y="0"/>
                  </a:cubicBezTo>
                  <a:close/>
                </a:path>
              </a:pathLst>
            </a:custGeom>
            <a:solidFill>
              <a:srgbClr val="02B676"/>
            </a:solidFill>
          </p:spPr>
        </p:sp>
        <p:sp>
          <p:nvSpPr>
            <p:cNvPr name="TextBox 5" id="5"/>
            <p:cNvSpPr txBox="true"/>
            <p:nvPr/>
          </p:nvSpPr>
          <p:spPr>
            <a:xfrm>
              <a:off x="0" y="9525"/>
              <a:ext cx="3972734" cy="1429787"/>
            </a:xfrm>
            <a:prstGeom prst="rect">
              <a:avLst/>
            </a:prstGeom>
          </p:spPr>
          <p:txBody>
            <a:bodyPr anchor="ctr" rtlCol="false" tIns="50800" lIns="50800" bIns="50800" rIns="50800"/>
            <a:lstStyle/>
            <a:p>
              <a:pPr algn="ctr">
                <a:lnSpc>
                  <a:spcPts val="2200"/>
                </a:lnSpc>
              </a:pPr>
            </a:p>
          </p:txBody>
        </p:sp>
      </p:grpSp>
      <p:grpSp>
        <p:nvGrpSpPr>
          <p:cNvPr name="Group 6" id="6"/>
          <p:cNvGrpSpPr/>
          <p:nvPr/>
        </p:nvGrpSpPr>
        <p:grpSpPr>
          <a:xfrm rot="0">
            <a:off x="1232495" y="3217977"/>
            <a:ext cx="16509011" cy="5790312"/>
            <a:chOff x="0" y="0"/>
            <a:chExt cx="3940705" cy="1382149"/>
          </a:xfrm>
        </p:grpSpPr>
        <p:sp>
          <p:nvSpPr>
            <p:cNvPr name="Freeform 7" id="7"/>
            <p:cNvSpPr/>
            <p:nvPr/>
          </p:nvSpPr>
          <p:spPr>
            <a:xfrm flipH="false" flipV="false" rot="0">
              <a:off x="0" y="0"/>
              <a:ext cx="3940705" cy="1382149"/>
            </a:xfrm>
            <a:custGeom>
              <a:avLst/>
              <a:gdLst/>
              <a:ahLst/>
              <a:cxnLst/>
              <a:rect r="r" b="b" t="t" l="l"/>
              <a:pathLst>
                <a:path h="1382149" w="3940705">
                  <a:moveTo>
                    <a:pt x="23917" y="0"/>
                  </a:moveTo>
                  <a:lnTo>
                    <a:pt x="3916789" y="0"/>
                  </a:lnTo>
                  <a:cubicBezTo>
                    <a:pt x="3923132" y="0"/>
                    <a:pt x="3929215" y="2520"/>
                    <a:pt x="3933700" y="7005"/>
                  </a:cubicBezTo>
                  <a:cubicBezTo>
                    <a:pt x="3938186" y="11490"/>
                    <a:pt x="3940705" y="17573"/>
                    <a:pt x="3940705" y="23917"/>
                  </a:cubicBezTo>
                  <a:lnTo>
                    <a:pt x="3940705" y="1358232"/>
                  </a:lnTo>
                  <a:cubicBezTo>
                    <a:pt x="3940705" y="1364575"/>
                    <a:pt x="3938186" y="1370659"/>
                    <a:pt x="3933700" y="1375144"/>
                  </a:cubicBezTo>
                  <a:cubicBezTo>
                    <a:pt x="3929215" y="1379629"/>
                    <a:pt x="3923132" y="1382149"/>
                    <a:pt x="3916789" y="1382149"/>
                  </a:cubicBezTo>
                  <a:lnTo>
                    <a:pt x="23917" y="1382149"/>
                  </a:lnTo>
                  <a:cubicBezTo>
                    <a:pt x="17573" y="1382149"/>
                    <a:pt x="11490" y="1379629"/>
                    <a:pt x="7005" y="1375144"/>
                  </a:cubicBezTo>
                  <a:cubicBezTo>
                    <a:pt x="2520" y="1370659"/>
                    <a:pt x="0" y="1364575"/>
                    <a:pt x="0" y="1358232"/>
                  </a:cubicBezTo>
                  <a:lnTo>
                    <a:pt x="0" y="23917"/>
                  </a:lnTo>
                  <a:cubicBezTo>
                    <a:pt x="0" y="17573"/>
                    <a:pt x="2520" y="11490"/>
                    <a:pt x="7005" y="7005"/>
                  </a:cubicBezTo>
                  <a:cubicBezTo>
                    <a:pt x="11490" y="2520"/>
                    <a:pt x="17573" y="0"/>
                    <a:pt x="23917" y="0"/>
                  </a:cubicBezTo>
                  <a:close/>
                </a:path>
              </a:pathLst>
            </a:custGeom>
            <a:solidFill>
              <a:srgbClr val="FFFFFF"/>
            </a:solidFill>
          </p:spPr>
        </p:sp>
        <p:sp>
          <p:nvSpPr>
            <p:cNvPr name="TextBox 8" id="8"/>
            <p:cNvSpPr txBox="true"/>
            <p:nvPr/>
          </p:nvSpPr>
          <p:spPr>
            <a:xfrm>
              <a:off x="0" y="9525"/>
              <a:ext cx="3940705" cy="1372624"/>
            </a:xfrm>
            <a:prstGeom prst="rect">
              <a:avLst/>
            </a:prstGeom>
          </p:spPr>
          <p:txBody>
            <a:bodyPr anchor="ctr" rtlCol="false" tIns="50800" lIns="50800" bIns="50800" rIns="50800"/>
            <a:lstStyle/>
            <a:p>
              <a:pPr algn="ctr">
                <a:lnSpc>
                  <a:spcPts val="2200"/>
                </a:lnSpc>
              </a:pPr>
            </a:p>
          </p:txBody>
        </p:sp>
      </p:grpSp>
      <p:sp>
        <p:nvSpPr>
          <p:cNvPr name="TextBox 9" id="9"/>
          <p:cNvSpPr txBox="true"/>
          <p:nvPr/>
        </p:nvSpPr>
        <p:spPr>
          <a:xfrm rot="0">
            <a:off x="1454948" y="4190052"/>
            <a:ext cx="16064104" cy="3674712"/>
          </a:xfrm>
          <a:prstGeom prst="rect">
            <a:avLst/>
          </a:prstGeom>
        </p:spPr>
        <p:txBody>
          <a:bodyPr anchor="t" rtlCol="false" tIns="0" lIns="0" bIns="0" rIns="0">
            <a:spAutoFit/>
          </a:bodyPr>
          <a:lstStyle/>
          <a:p>
            <a:pPr algn="l">
              <a:lnSpc>
                <a:spcPts val="5849"/>
              </a:lnSpc>
            </a:pPr>
            <a:r>
              <a:rPr lang="en-US" sz="3798">
                <a:solidFill>
                  <a:srgbClr val="290606"/>
                </a:solidFill>
                <a:latin typeface="Telegraf"/>
                <a:ea typeface="Telegraf"/>
                <a:cs typeface="Telegraf"/>
                <a:sym typeface="Telegraf"/>
              </a:rPr>
              <a:t>In the final solution, YOLOv8 handles object localization, while CNN handles directional classification. So, we made two stages solution for this main problem. first stage will be YOLO predictions and second stage CNN classification,</a:t>
            </a:r>
            <a:r>
              <a:rPr lang="en-US" sz="3798">
                <a:solidFill>
                  <a:srgbClr val="290606"/>
                </a:solidFill>
                <a:latin typeface="Telegraf"/>
                <a:ea typeface="Telegraf"/>
                <a:cs typeface="Telegraf"/>
                <a:sym typeface="Telegraf"/>
              </a:rPr>
              <a:t> so these two models were integrated into a single pipeline that performs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EF4F3"/>
        </a:solidFill>
      </p:bgPr>
    </p:bg>
    <p:spTree>
      <p:nvGrpSpPr>
        <p:cNvPr id="1" name=""/>
        <p:cNvGrpSpPr/>
        <p:nvPr/>
      </p:nvGrpSpPr>
      <p:grpSpPr>
        <a:xfrm>
          <a:off x="0" y="0"/>
          <a:ext cx="0" cy="0"/>
          <a:chOff x="0" y="0"/>
          <a:chExt cx="0" cy="0"/>
        </a:xfrm>
      </p:grpSpPr>
      <p:sp>
        <p:nvSpPr>
          <p:cNvPr name="Freeform 2" id="2"/>
          <p:cNvSpPr/>
          <p:nvPr/>
        </p:nvSpPr>
        <p:spPr>
          <a:xfrm flipH="false" flipV="false" rot="0">
            <a:off x="0" y="2391411"/>
            <a:ext cx="4750063" cy="4782822"/>
          </a:xfrm>
          <a:custGeom>
            <a:avLst/>
            <a:gdLst/>
            <a:ahLst/>
            <a:cxnLst/>
            <a:rect r="r" b="b" t="t" l="l"/>
            <a:pathLst>
              <a:path h="4782822" w="4750063">
                <a:moveTo>
                  <a:pt x="0" y="0"/>
                </a:moveTo>
                <a:lnTo>
                  <a:pt x="4750063" y="0"/>
                </a:lnTo>
                <a:lnTo>
                  <a:pt x="4750063" y="4782822"/>
                </a:lnTo>
                <a:lnTo>
                  <a:pt x="0" y="4782822"/>
                </a:lnTo>
                <a:lnTo>
                  <a:pt x="0" y="0"/>
                </a:lnTo>
                <a:close/>
              </a:path>
            </a:pathLst>
          </a:custGeom>
          <a:blipFill>
            <a:blip r:embed="rId2"/>
            <a:stretch>
              <a:fillRect l="0" t="0" r="0" b="0"/>
            </a:stretch>
          </a:blipFill>
        </p:spPr>
      </p:sp>
      <p:sp>
        <p:nvSpPr>
          <p:cNvPr name="Freeform 3" id="3"/>
          <p:cNvSpPr/>
          <p:nvPr/>
        </p:nvSpPr>
        <p:spPr>
          <a:xfrm flipH="false" flipV="false" rot="0">
            <a:off x="4967047" y="2391411"/>
            <a:ext cx="5224477" cy="4782822"/>
          </a:xfrm>
          <a:custGeom>
            <a:avLst/>
            <a:gdLst/>
            <a:ahLst/>
            <a:cxnLst/>
            <a:rect r="r" b="b" t="t" l="l"/>
            <a:pathLst>
              <a:path h="4782822" w="5224477">
                <a:moveTo>
                  <a:pt x="0" y="0"/>
                </a:moveTo>
                <a:lnTo>
                  <a:pt x="5224476" y="0"/>
                </a:lnTo>
                <a:lnTo>
                  <a:pt x="5224476" y="4782822"/>
                </a:lnTo>
                <a:lnTo>
                  <a:pt x="0" y="4782822"/>
                </a:lnTo>
                <a:lnTo>
                  <a:pt x="0" y="0"/>
                </a:lnTo>
                <a:close/>
              </a:path>
            </a:pathLst>
          </a:custGeom>
          <a:blipFill>
            <a:blip r:embed="rId3"/>
            <a:stretch>
              <a:fillRect l="0" t="0" r="0" b="-12168"/>
            </a:stretch>
          </a:blipFill>
        </p:spPr>
      </p:sp>
      <p:sp>
        <p:nvSpPr>
          <p:cNvPr name="Freeform 4" id="4"/>
          <p:cNvSpPr/>
          <p:nvPr/>
        </p:nvSpPr>
        <p:spPr>
          <a:xfrm flipH="false" flipV="false" rot="0">
            <a:off x="10410598" y="2072773"/>
            <a:ext cx="8093021" cy="5420097"/>
          </a:xfrm>
          <a:custGeom>
            <a:avLst/>
            <a:gdLst/>
            <a:ahLst/>
            <a:cxnLst/>
            <a:rect r="r" b="b" t="t" l="l"/>
            <a:pathLst>
              <a:path h="5420097" w="8093021">
                <a:moveTo>
                  <a:pt x="0" y="0"/>
                </a:moveTo>
                <a:lnTo>
                  <a:pt x="8093021" y="0"/>
                </a:lnTo>
                <a:lnTo>
                  <a:pt x="8093021" y="5420097"/>
                </a:lnTo>
                <a:lnTo>
                  <a:pt x="0" y="5420097"/>
                </a:lnTo>
                <a:lnTo>
                  <a:pt x="0" y="0"/>
                </a:lnTo>
                <a:close/>
              </a:path>
            </a:pathLst>
          </a:custGeom>
          <a:blipFill>
            <a:blip r:embed="rId4"/>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p:cSld>
    <p:bg>
      <p:bgPr>
        <a:solidFill>
          <a:srgbClr val="EEF4F3"/>
        </a:solidFill>
      </p:bgPr>
    </p:bg>
    <p:spTree>
      <p:nvGrpSpPr>
        <p:cNvPr id="1" name=""/>
        <p:cNvGrpSpPr/>
        <p:nvPr/>
      </p:nvGrpSpPr>
      <p:grpSpPr>
        <a:xfrm>
          <a:off x="0" y="0"/>
          <a:ext cx="0" cy="0"/>
          <a:chOff x="0" y="0"/>
          <a:chExt cx="0" cy="0"/>
        </a:xfrm>
      </p:grpSpPr>
      <p:sp>
        <p:nvSpPr>
          <p:cNvPr name="TextBox 2" id="2"/>
          <p:cNvSpPr txBox="true"/>
          <p:nvPr/>
        </p:nvSpPr>
        <p:spPr>
          <a:xfrm rot="0">
            <a:off x="-437118" y="683048"/>
            <a:ext cx="19162236" cy="1371626"/>
          </a:xfrm>
          <a:prstGeom prst="rect">
            <a:avLst/>
          </a:prstGeom>
        </p:spPr>
        <p:txBody>
          <a:bodyPr anchor="t" rtlCol="false" tIns="0" lIns="0" bIns="0" rIns="0">
            <a:spAutoFit/>
          </a:bodyPr>
          <a:lstStyle/>
          <a:p>
            <a:pPr algn="ctr">
              <a:lnSpc>
                <a:spcPts val="8999"/>
              </a:lnSpc>
            </a:pPr>
            <a:r>
              <a:rPr lang="en-US" sz="8999" spc="440">
                <a:solidFill>
                  <a:srgbClr val="290606"/>
                </a:solidFill>
                <a:latin typeface="Cheddar"/>
                <a:ea typeface="Cheddar"/>
                <a:cs typeface="Cheddar"/>
                <a:sym typeface="Cheddar"/>
              </a:rPr>
              <a:t>CNN ARCHITECTURE (RESNET18-BASED)</a:t>
            </a:r>
          </a:p>
        </p:txBody>
      </p:sp>
      <p:grpSp>
        <p:nvGrpSpPr>
          <p:cNvPr name="Group 3" id="3"/>
          <p:cNvGrpSpPr/>
          <p:nvPr/>
        </p:nvGrpSpPr>
        <p:grpSpPr>
          <a:xfrm rot="0">
            <a:off x="546494" y="2978499"/>
            <a:ext cx="16643192" cy="6029789"/>
            <a:chOff x="0" y="0"/>
            <a:chExt cx="3972734" cy="1439312"/>
          </a:xfrm>
        </p:grpSpPr>
        <p:sp>
          <p:nvSpPr>
            <p:cNvPr name="Freeform 4" id="4"/>
            <p:cNvSpPr/>
            <p:nvPr/>
          </p:nvSpPr>
          <p:spPr>
            <a:xfrm flipH="false" flipV="false" rot="0">
              <a:off x="0" y="0"/>
              <a:ext cx="3972734" cy="1439312"/>
            </a:xfrm>
            <a:custGeom>
              <a:avLst/>
              <a:gdLst/>
              <a:ahLst/>
              <a:cxnLst/>
              <a:rect r="r" b="b" t="t" l="l"/>
              <a:pathLst>
                <a:path h="1439312" w="3972734">
                  <a:moveTo>
                    <a:pt x="23724" y="0"/>
                  </a:moveTo>
                  <a:lnTo>
                    <a:pt x="3949011" y="0"/>
                  </a:lnTo>
                  <a:cubicBezTo>
                    <a:pt x="3955302" y="0"/>
                    <a:pt x="3961336" y="2499"/>
                    <a:pt x="3965786" y="6949"/>
                  </a:cubicBezTo>
                  <a:cubicBezTo>
                    <a:pt x="3970235" y="11398"/>
                    <a:pt x="3972734" y="17432"/>
                    <a:pt x="3972734" y="23724"/>
                  </a:cubicBezTo>
                  <a:lnTo>
                    <a:pt x="3972734" y="1415589"/>
                  </a:lnTo>
                  <a:cubicBezTo>
                    <a:pt x="3972734" y="1421880"/>
                    <a:pt x="3970235" y="1427915"/>
                    <a:pt x="3965786" y="1432364"/>
                  </a:cubicBezTo>
                  <a:cubicBezTo>
                    <a:pt x="3961336" y="1436813"/>
                    <a:pt x="3955302" y="1439312"/>
                    <a:pt x="3949011" y="1439312"/>
                  </a:cubicBezTo>
                  <a:lnTo>
                    <a:pt x="23724" y="1439312"/>
                  </a:lnTo>
                  <a:cubicBezTo>
                    <a:pt x="17432" y="1439312"/>
                    <a:pt x="11398" y="1436813"/>
                    <a:pt x="6949" y="1432364"/>
                  </a:cubicBezTo>
                  <a:cubicBezTo>
                    <a:pt x="2499" y="1427915"/>
                    <a:pt x="0" y="1421880"/>
                    <a:pt x="0" y="1415589"/>
                  </a:cubicBezTo>
                  <a:lnTo>
                    <a:pt x="0" y="23724"/>
                  </a:lnTo>
                  <a:cubicBezTo>
                    <a:pt x="0" y="17432"/>
                    <a:pt x="2499" y="11398"/>
                    <a:pt x="6949" y="6949"/>
                  </a:cubicBezTo>
                  <a:cubicBezTo>
                    <a:pt x="11398" y="2499"/>
                    <a:pt x="17432" y="0"/>
                    <a:pt x="23724" y="0"/>
                  </a:cubicBezTo>
                  <a:close/>
                </a:path>
              </a:pathLst>
            </a:custGeom>
            <a:solidFill>
              <a:srgbClr val="02B676"/>
            </a:solidFill>
          </p:spPr>
        </p:sp>
        <p:sp>
          <p:nvSpPr>
            <p:cNvPr name="TextBox 5" id="5"/>
            <p:cNvSpPr txBox="true"/>
            <p:nvPr/>
          </p:nvSpPr>
          <p:spPr>
            <a:xfrm>
              <a:off x="0" y="9525"/>
              <a:ext cx="3972734" cy="1429787"/>
            </a:xfrm>
            <a:prstGeom prst="rect">
              <a:avLst/>
            </a:prstGeom>
          </p:spPr>
          <p:txBody>
            <a:bodyPr anchor="ctr" rtlCol="false" tIns="50800" lIns="50800" bIns="50800" rIns="50800"/>
            <a:lstStyle/>
            <a:p>
              <a:pPr algn="ctr">
                <a:lnSpc>
                  <a:spcPts val="2200"/>
                </a:lnSpc>
              </a:pPr>
            </a:p>
          </p:txBody>
        </p:sp>
      </p:grpSp>
      <p:grpSp>
        <p:nvGrpSpPr>
          <p:cNvPr name="Group 6" id="6"/>
          <p:cNvGrpSpPr/>
          <p:nvPr/>
        </p:nvGrpSpPr>
        <p:grpSpPr>
          <a:xfrm rot="0">
            <a:off x="1232495" y="3217977"/>
            <a:ext cx="16509011" cy="5790312"/>
            <a:chOff x="0" y="0"/>
            <a:chExt cx="3940705" cy="1382149"/>
          </a:xfrm>
        </p:grpSpPr>
        <p:sp>
          <p:nvSpPr>
            <p:cNvPr name="Freeform 7" id="7"/>
            <p:cNvSpPr/>
            <p:nvPr/>
          </p:nvSpPr>
          <p:spPr>
            <a:xfrm flipH="false" flipV="false" rot="0">
              <a:off x="0" y="0"/>
              <a:ext cx="3940705" cy="1382149"/>
            </a:xfrm>
            <a:custGeom>
              <a:avLst/>
              <a:gdLst/>
              <a:ahLst/>
              <a:cxnLst/>
              <a:rect r="r" b="b" t="t" l="l"/>
              <a:pathLst>
                <a:path h="1382149" w="3940705">
                  <a:moveTo>
                    <a:pt x="23917" y="0"/>
                  </a:moveTo>
                  <a:lnTo>
                    <a:pt x="3916789" y="0"/>
                  </a:lnTo>
                  <a:cubicBezTo>
                    <a:pt x="3923132" y="0"/>
                    <a:pt x="3929215" y="2520"/>
                    <a:pt x="3933700" y="7005"/>
                  </a:cubicBezTo>
                  <a:cubicBezTo>
                    <a:pt x="3938186" y="11490"/>
                    <a:pt x="3940705" y="17573"/>
                    <a:pt x="3940705" y="23917"/>
                  </a:cubicBezTo>
                  <a:lnTo>
                    <a:pt x="3940705" y="1358232"/>
                  </a:lnTo>
                  <a:cubicBezTo>
                    <a:pt x="3940705" y="1364575"/>
                    <a:pt x="3938186" y="1370659"/>
                    <a:pt x="3933700" y="1375144"/>
                  </a:cubicBezTo>
                  <a:cubicBezTo>
                    <a:pt x="3929215" y="1379629"/>
                    <a:pt x="3923132" y="1382149"/>
                    <a:pt x="3916789" y="1382149"/>
                  </a:cubicBezTo>
                  <a:lnTo>
                    <a:pt x="23917" y="1382149"/>
                  </a:lnTo>
                  <a:cubicBezTo>
                    <a:pt x="17573" y="1382149"/>
                    <a:pt x="11490" y="1379629"/>
                    <a:pt x="7005" y="1375144"/>
                  </a:cubicBezTo>
                  <a:cubicBezTo>
                    <a:pt x="2520" y="1370659"/>
                    <a:pt x="0" y="1364575"/>
                    <a:pt x="0" y="1358232"/>
                  </a:cubicBezTo>
                  <a:lnTo>
                    <a:pt x="0" y="23917"/>
                  </a:lnTo>
                  <a:cubicBezTo>
                    <a:pt x="0" y="17573"/>
                    <a:pt x="2520" y="11490"/>
                    <a:pt x="7005" y="7005"/>
                  </a:cubicBezTo>
                  <a:cubicBezTo>
                    <a:pt x="11490" y="2520"/>
                    <a:pt x="17573" y="0"/>
                    <a:pt x="23917" y="0"/>
                  </a:cubicBezTo>
                  <a:close/>
                </a:path>
              </a:pathLst>
            </a:custGeom>
            <a:solidFill>
              <a:srgbClr val="FFFFFF"/>
            </a:solidFill>
          </p:spPr>
        </p:sp>
        <p:sp>
          <p:nvSpPr>
            <p:cNvPr name="TextBox 8" id="8"/>
            <p:cNvSpPr txBox="true"/>
            <p:nvPr/>
          </p:nvSpPr>
          <p:spPr>
            <a:xfrm>
              <a:off x="0" y="9525"/>
              <a:ext cx="3940705" cy="1372624"/>
            </a:xfrm>
            <a:prstGeom prst="rect">
              <a:avLst/>
            </a:prstGeom>
          </p:spPr>
          <p:txBody>
            <a:bodyPr anchor="ctr" rtlCol="false" tIns="50800" lIns="50800" bIns="50800" rIns="50800"/>
            <a:lstStyle/>
            <a:p>
              <a:pPr algn="ctr">
                <a:lnSpc>
                  <a:spcPts val="2200"/>
                </a:lnSpc>
              </a:pPr>
            </a:p>
          </p:txBody>
        </p:sp>
      </p:grpSp>
      <p:sp>
        <p:nvSpPr>
          <p:cNvPr name="TextBox 9" id="9"/>
          <p:cNvSpPr txBox="true"/>
          <p:nvPr/>
        </p:nvSpPr>
        <p:spPr>
          <a:xfrm rot="0">
            <a:off x="1232495" y="3698924"/>
            <a:ext cx="16064104" cy="5559376"/>
          </a:xfrm>
          <a:prstGeom prst="rect">
            <a:avLst/>
          </a:prstGeom>
        </p:spPr>
        <p:txBody>
          <a:bodyPr anchor="t" rtlCol="false" tIns="0" lIns="0" bIns="0" rIns="0">
            <a:spAutoFit/>
          </a:bodyPr>
          <a:lstStyle/>
          <a:p>
            <a:pPr algn="l" marL="776897" indent="-388448" lvl="1">
              <a:lnSpc>
                <a:spcPts val="5541"/>
              </a:lnSpc>
              <a:buFont typeface="Arial"/>
              <a:buChar char="•"/>
            </a:pPr>
            <a:r>
              <a:rPr lang="en-US" sz="3598">
                <a:solidFill>
                  <a:srgbClr val="290606"/>
                </a:solidFill>
                <a:latin typeface="Telegraf"/>
                <a:ea typeface="Telegraf"/>
                <a:cs typeface="Telegraf"/>
                <a:sym typeface="Telegraf"/>
              </a:rPr>
              <a:t>Input: 224×224 RGB images</a:t>
            </a:r>
          </a:p>
          <a:p>
            <a:pPr algn="l" marL="776897" indent="-388448" lvl="1">
              <a:lnSpc>
                <a:spcPts val="5541"/>
              </a:lnSpc>
              <a:buFont typeface="Arial"/>
              <a:buChar char="•"/>
            </a:pPr>
            <a:r>
              <a:rPr lang="en-US" sz="3598">
                <a:solidFill>
                  <a:srgbClr val="290606"/>
                </a:solidFill>
                <a:latin typeface="Telegraf"/>
                <a:ea typeface="Telegraf"/>
                <a:cs typeface="Telegraf"/>
                <a:sym typeface="Telegraf"/>
              </a:rPr>
              <a:t>Base Model: Pretrained ResNet18</a:t>
            </a:r>
          </a:p>
          <a:p>
            <a:pPr algn="l" marL="776897" indent="-388448" lvl="1">
              <a:lnSpc>
                <a:spcPts val="5541"/>
              </a:lnSpc>
              <a:buFont typeface="Arial"/>
              <a:buChar char="•"/>
            </a:pPr>
            <a:r>
              <a:rPr lang="en-US" sz="3598">
                <a:solidFill>
                  <a:srgbClr val="290606"/>
                </a:solidFill>
                <a:latin typeface="Telegraf"/>
                <a:ea typeface="Telegraf"/>
                <a:cs typeface="Telegraf"/>
                <a:sym typeface="Telegraf"/>
              </a:rPr>
              <a:t>Final Layer: Modified fully connected layer for 2-class output (Left/Right)</a:t>
            </a:r>
          </a:p>
          <a:p>
            <a:pPr algn="l" marL="776897" indent="-388448" lvl="1">
              <a:lnSpc>
                <a:spcPts val="5541"/>
              </a:lnSpc>
              <a:buFont typeface="Arial"/>
              <a:buChar char="•"/>
            </a:pPr>
            <a:r>
              <a:rPr lang="en-US" sz="3598">
                <a:solidFill>
                  <a:srgbClr val="290606"/>
                </a:solidFill>
                <a:latin typeface="Telegraf"/>
                <a:ea typeface="Telegraf"/>
                <a:cs typeface="Telegraf"/>
                <a:sym typeface="Telegraf"/>
              </a:rPr>
              <a:t>Activation Functions: ReLU (intermediate), Softmax (implied at output)</a:t>
            </a:r>
          </a:p>
          <a:p>
            <a:pPr algn="l" marL="776897" indent="-388448" lvl="1">
              <a:lnSpc>
                <a:spcPts val="5541"/>
              </a:lnSpc>
              <a:buFont typeface="Arial"/>
              <a:buChar char="•"/>
            </a:pPr>
            <a:r>
              <a:rPr lang="en-US" sz="3598">
                <a:solidFill>
                  <a:srgbClr val="290606"/>
                </a:solidFill>
                <a:latin typeface="Telegraf"/>
                <a:ea typeface="Telegraf"/>
                <a:cs typeface="Telegraf"/>
                <a:sym typeface="Telegraf"/>
              </a:rPr>
              <a:t>Optimizer: Adam (learning rate = 1e-4)</a:t>
            </a:r>
          </a:p>
          <a:p>
            <a:pPr algn="l" marL="776897" indent="-388448" lvl="1">
              <a:lnSpc>
                <a:spcPts val="5541"/>
              </a:lnSpc>
              <a:buFont typeface="Arial"/>
              <a:buChar char="•"/>
            </a:pPr>
            <a:r>
              <a:rPr lang="en-US" sz="3598">
                <a:solidFill>
                  <a:srgbClr val="290606"/>
                </a:solidFill>
                <a:latin typeface="Telegraf"/>
                <a:ea typeface="Telegraf"/>
                <a:cs typeface="Telegraf"/>
                <a:sym typeface="Telegraf"/>
              </a:rPr>
              <a:t>Training: 50 epochs with early stopping and learning rate scheduling</a:t>
            </a:r>
          </a:p>
          <a:p>
            <a:pPr algn="l">
              <a:lnSpc>
                <a:spcPts val="5541"/>
              </a:lnSpc>
            </a:pPr>
          </a:p>
          <a:p>
            <a:pPr algn="l">
              <a:lnSpc>
                <a:spcPts val="5541"/>
              </a:lnSpc>
            </a:pP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EEF4F3"/>
        </a:solidFill>
      </p:bgPr>
    </p:bg>
    <p:spTree>
      <p:nvGrpSpPr>
        <p:cNvPr id="1" name=""/>
        <p:cNvGrpSpPr/>
        <p:nvPr/>
      </p:nvGrpSpPr>
      <p:grpSpPr>
        <a:xfrm>
          <a:off x="0" y="0"/>
          <a:ext cx="0" cy="0"/>
          <a:chOff x="0" y="0"/>
          <a:chExt cx="0" cy="0"/>
        </a:xfrm>
      </p:grpSpPr>
      <p:grpSp>
        <p:nvGrpSpPr>
          <p:cNvPr name="Group 2" id="2"/>
          <p:cNvGrpSpPr/>
          <p:nvPr/>
        </p:nvGrpSpPr>
        <p:grpSpPr>
          <a:xfrm rot="0">
            <a:off x="1814671" y="3847636"/>
            <a:ext cx="2919055" cy="2583370"/>
            <a:chOff x="0" y="0"/>
            <a:chExt cx="869868" cy="769835"/>
          </a:xfrm>
        </p:grpSpPr>
        <p:sp>
          <p:nvSpPr>
            <p:cNvPr name="Freeform 3" id="3"/>
            <p:cNvSpPr/>
            <p:nvPr/>
          </p:nvSpPr>
          <p:spPr>
            <a:xfrm flipH="false" flipV="false" rot="0">
              <a:off x="0" y="0"/>
              <a:ext cx="869868" cy="769835"/>
            </a:xfrm>
            <a:custGeom>
              <a:avLst/>
              <a:gdLst/>
              <a:ahLst/>
              <a:cxnLst/>
              <a:rect r="r" b="b" t="t" l="l"/>
              <a:pathLst>
                <a:path h="769835" w="869868">
                  <a:moveTo>
                    <a:pt x="869868" y="384918"/>
                  </a:moveTo>
                  <a:lnTo>
                    <a:pt x="666668" y="769835"/>
                  </a:lnTo>
                  <a:lnTo>
                    <a:pt x="203200" y="769835"/>
                  </a:lnTo>
                  <a:lnTo>
                    <a:pt x="0" y="384918"/>
                  </a:lnTo>
                  <a:lnTo>
                    <a:pt x="203200" y="0"/>
                  </a:lnTo>
                  <a:lnTo>
                    <a:pt x="666668" y="0"/>
                  </a:lnTo>
                  <a:lnTo>
                    <a:pt x="869868" y="384918"/>
                  </a:lnTo>
                  <a:close/>
                </a:path>
              </a:pathLst>
            </a:custGeom>
            <a:solidFill>
              <a:srgbClr val="FFC97F"/>
            </a:solidFill>
          </p:spPr>
        </p:sp>
        <p:sp>
          <p:nvSpPr>
            <p:cNvPr name="TextBox 4" id="4"/>
            <p:cNvSpPr txBox="true"/>
            <p:nvPr/>
          </p:nvSpPr>
          <p:spPr>
            <a:xfrm>
              <a:off x="114300" y="28575"/>
              <a:ext cx="641268" cy="741260"/>
            </a:xfrm>
            <a:prstGeom prst="rect">
              <a:avLst/>
            </a:prstGeom>
          </p:spPr>
          <p:txBody>
            <a:bodyPr anchor="ctr" rtlCol="false" tIns="50800" lIns="50800" bIns="50800" rIns="50800"/>
            <a:lstStyle/>
            <a:p>
              <a:pPr algn="ctr">
                <a:lnSpc>
                  <a:spcPts val="3199"/>
                </a:lnSpc>
              </a:pPr>
              <a:r>
                <a:rPr lang="en-US" b="true" sz="3199">
                  <a:solidFill>
                    <a:srgbClr val="000000"/>
                  </a:solidFill>
                  <a:latin typeface="Telegraf Bold"/>
                  <a:ea typeface="Telegraf Bold"/>
                  <a:cs typeface="Telegraf Bold"/>
                  <a:sym typeface="Telegraf Bold"/>
                </a:rPr>
                <a:t>Accuracy</a:t>
              </a:r>
            </a:p>
          </p:txBody>
        </p:sp>
      </p:grpSp>
      <p:sp>
        <p:nvSpPr>
          <p:cNvPr name="TextBox 5" id="5"/>
          <p:cNvSpPr txBox="true"/>
          <p:nvPr/>
        </p:nvSpPr>
        <p:spPr>
          <a:xfrm rot="0">
            <a:off x="-500490" y="209698"/>
            <a:ext cx="13510896" cy="2076470"/>
          </a:xfrm>
          <a:prstGeom prst="rect">
            <a:avLst/>
          </a:prstGeom>
        </p:spPr>
        <p:txBody>
          <a:bodyPr anchor="t" rtlCol="false" tIns="0" lIns="0" bIns="0" rIns="0">
            <a:spAutoFit/>
          </a:bodyPr>
          <a:lstStyle/>
          <a:p>
            <a:pPr algn="ctr">
              <a:lnSpc>
                <a:spcPts val="14518"/>
              </a:lnSpc>
              <a:spcBef>
                <a:spcPct val="0"/>
              </a:spcBef>
            </a:pPr>
            <a:r>
              <a:rPr lang="en-US" sz="12098" spc="-120">
                <a:solidFill>
                  <a:srgbClr val="290606"/>
                </a:solidFill>
                <a:latin typeface="Cheddar"/>
                <a:ea typeface="Cheddar"/>
                <a:cs typeface="Cheddar"/>
                <a:sym typeface="Cheddar"/>
              </a:rPr>
              <a:t>Evaluation Metrics</a:t>
            </a:r>
          </a:p>
        </p:txBody>
      </p:sp>
      <p:grpSp>
        <p:nvGrpSpPr>
          <p:cNvPr name="Group 6" id="6"/>
          <p:cNvGrpSpPr/>
          <p:nvPr/>
        </p:nvGrpSpPr>
        <p:grpSpPr>
          <a:xfrm rot="0">
            <a:off x="4140351" y="5139322"/>
            <a:ext cx="2919055" cy="2583370"/>
            <a:chOff x="0" y="0"/>
            <a:chExt cx="869868" cy="769835"/>
          </a:xfrm>
        </p:grpSpPr>
        <p:sp>
          <p:nvSpPr>
            <p:cNvPr name="Freeform 7" id="7"/>
            <p:cNvSpPr/>
            <p:nvPr/>
          </p:nvSpPr>
          <p:spPr>
            <a:xfrm flipH="false" flipV="false" rot="0">
              <a:off x="0" y="0"/>
              <a:ext cx="869868" cy="769835"/>
            </a:xfrm>
            <a:custGeom>
              <a:avLst/>
              <a:gdLst/>
              <a:ahLst/>
              <a:cxnLst/>
              <a:rect r="r" b="b" t="t" l="l"/>
              <a:pathLst>
                <a:path h="769835" w="869868">
                  <a:moveTo>
                    <a:pt x="869868" y="384918"/>
                  </a:moveTo>
                  <a:lnTo>
                    <a:pt x="666668" y="769835"/>
                  </a:lnTo>
                  <a:lnTo>
                    <a:pt x="203200" y="769835"/>
                  </a:lnTo>
                  <a:lnTo>
                    <a:pt x="0" y="384918"/>
                  </a:lnTo>
                  <a:lnTo>
                    <a:pt x="203200" y="0"/>
                  </a:lnTo>
                  <a:lnTo>
                    <a:pt x="666668" y="0"/>
                  </a:lnTo>
                  <a:lnTo>
                    <a:pt x="869868" y="384918"/>
                  </a:lnTo>
                  <a:close/>
                </a:path>
              </a:pathLst>
            </a:custGeom>
            <a:solidFill>
              <a:srgbClr val="02B676"/>
            </a:solidFill>
          </p:spPr>
        </p:sp>
        <p:sp>
          <p:nvSpPr>
            <p:cNvPr name="TextBox 8" id="8"/>
            <p:cNvSpPr txBox="true"/>
            <p:nvPr/>
          </p:nvSpPr>
          <p:spPr>
            <a:xfrm>
              <a:off x="114300" y="28575"/>
              <a:ext cx="641268" cy="741260"/>
            </a:xfrm>
            <a:prstGeom prst="rect">
              <a:avLst/>
            </a:prstGeom>
          </p:spPr>
          <p:txBody>
            <a:bodyPr anchor="ctr" rtlCol="false" tIns="50800" lIns="50800" bIns="50800" rIns="50800"/>
            <a:lstStyle/>
            <a:p>
              <a:pPr algn="ctr">
                <a:lnSpc>
                  <a:spcPts val="3199"/>
                </a:lnSpc>
              </a:pPr>
              <a:r>
                <a:rPr lang="en-US" b="true" sz="3199">
                  <a:solidFill>
                    <a:srgbClr val="FFFFFF"/>
                  </a:solidFill>
                  <a:latin typeface="Telegraf Bold"/>
                  <a:ea typeface="Telegraf Bold"/>
                  <a:cs typeface="Telegraf Bold"/>
                  <a:sym typeface="Telegraf Bold"/>
                </a:rPr>
                <a:t>Precision</a:t>
              </a:r>
            </a:p>
          </p:txBody>
        </p:sp>
      </p:grpSp>
      <p:grpSp>
        <p:nvGrpSpPr>
          <p:cNvPr name="Group 9" id="9"/>
          <p:cNvGrpSpPr/>
          <p:nvPr/>
        </p:nvGrpSpPr>
        <p:grpSpPr>
          <a:xfrm rot="0">
            <a:off x="6474505" y="3847636"/>
            <a:ext cx="2919055" cy="2583370"/>
            <a:chOff x="0" y="0"/>
            <a:chExt cx="869868" cy="769835"/>
          </a:xfrm>
        </p:grpSpPr>
        <p:sp>
          <p:nvSpPr>
            <p:cNvPr name="Freeform 10" id="10"/>
            <p:cNvSpPr/>
            <p:nvPr/>
          </p:nvSpPr>
          <p:spPr>
            <a:xfrm flipH="false" flipV="false" rot="0">
              <a:off x="0" y="0"/>
              <a:ext cx="869868" cy="769835"/>
            </a:xfrm>
            <a:custGeom>
              <a:avLst/>
              <a:gdLst/>
              <a:ahLst/>
              <a:cxnLst/>
              <a:rect r="r" b="b" t="t" l="l"/>
              <a:pathLst>
                <a:path h="769835" w="869868">
                  <a:moveTo>
                    <a:pt x="869868" y="384918"/>
                  </a:moveTo>
                  <a:lnTo>
                    <a:pt x="666668" y="769835"/>
                  </a:lnTo>
                  <a:lnTo>
                    <a:pt x="203200" y="769835"/>
                  </a:lnTo>
                  <a:lnTo>
                    <a:pt x="0" y="384918"/>
                  </a:lnTo>
                  <a:lnTo>
                    <a:pt x="203200" y="0"/>
                  </a:lnTo>
                  <a:lnTo>
                    <a:pt x="666668" y="0"/>
                  </a:lnTo>
                  <a:lnTo>
                    <a:pt x="869868" y="384918"/>
                  </a:lnTo>
                  <a:close/>
                </a:path>
              </a:pathLst>
            </a:custGeom>
            <a:solidFill>
              <a:srgbClr val="FFC97F"/>
            </a:solidFill>
          </p:spPr>
        </p:sp>
        <p:sp>
          <p:nvSpPr>
            <p:cNvPr name="TextBox 11" id="11"/>
            <p:cNvSpPr txBox="true"/>
            <p:nvPr/>
          </p:nvSpPr>
          <p:spPr>
            <a:xfrm>
              <a:off x="114300" y="28575"/>
              <a:ext cx="641268" cy="741260"/>
            </a:xfrm>
            <a:prstGeom prst="rect">
              <a:avLst/>
            </a:prstGeom>
          </p:spPr>
          <p:txBody>
            <a:bodyPr anchor="ctr" rtlCol="false" tIns="50800" lIns="50800" bIns="50800" rIns="50800"/>
            <a:lstStyle/>
            <a:p>
              <a:pPr algn="ctr">
                <a:lnSpc>
                  <a:spcPts val="3199"/>
                </a:lnSpc>
              </a:pPr>
              <a:r>
                <a:rPr lang="en-US" b="true" sz="3199">
                  <a:solidFill>
                    <a:srgbClr val="000000"/>
                  </a:solidFill>
                  <a:latin typeface="Telegraf Bold"/>
                  <a:ea typeface="Telegraf Bold"/>
                  <a:cs typeface="Telegraf Bold"/>
                  <a:sym typeface="Telegraf Bold"/>
                </a:rPr>
                <a:t>Recall</a:t>
              </a:r>
            </a:p>
          </p:txBody>
        </p:sp>
      </p:grpSp>
      <p:grpSp>
        <p:nvGrpSpPr>
          <p:cNvPr name="Group 12" id="12"/>
          <p:cNvGrpSpPr/>
          <p:nvPr/>
        </p:nvGrpSpPr>
        <p:grpSpPr>
          <a:xfrm rot="0">
            <a:off x="13491998" y="5139322"/>
            <a:ext cx="2919055" cy="2583370"/>
            <a:chOff x="0" y="0"/>
            <a:chExt cx="869868" cy="769835"/>
          </a:xfrm>
        </p:grpSpPr>
        <p:sp>
          <p:nvSpPr>
            <p:cNvPr name="Freeform 13" id="13"/>
            <p:cNvSpPr/>
            <p:nvPr/>
          </p:nvSpPr>
          <p:spPr>
            <a:xfrm flipH="false" flipV="false" rot="0">
              <a:off x="0" y="0"/>
              <a:ext cx="869868" cy="769835"/>
            </a:xfrm>
            <a:custGeom>
              <a:avLst/>
              <a:gdLst/>
              <a:ahLst/>
              <a:cxnLst/>
              <a:rect r="r" b="b" t="t" l="l"/>
              <a:pathLst>
                <a:path h="769835" w="869868">
                  <a:moveTo>
                    <a:pt x="869868" y="384918"/>
                  </a:moveTo>
                  <a:lnTo>
                    <a:pt x="666668" y="769835"/>
                  </a:lnTo>
                  <a:lnTo>
                    <a:pt x="203200" y="769835"/>
                  </a:lnTo>
                  <a:lnTo>
                    <a:pt x="0" y="384918"/>
                  </a:lnTo>
                  <a:lnTo>
                    <a:pt x="203200" y="0"/>
                  </a:lnTo>
                  <a:lnTo>
                    <a:pt x="666668" y="0"/>
                  </a:lnTo>
                  <a:lnTo>
                    <a:pt x="869868" y="384918"/>
                  </a:lnTo>
                  <a:close/>
                </a:path>
              </a:pathLst>
            </a:custGeom>
            <a:solidFill>
              <a:srgbClr val="02B676"/>
            </a:solidFill>
          </p:spPr>
        </p:sp>
        <p:sp>
          <p:nvSpPr>
            <p:cNvPr name="TextBox 14" id="14"/>
            <p:cNvSpPr txBox="true"/>
            <p:nvPr/>
          </p:nvSpPr>
          <p:spPr>
            <a:xfrm>
              <a:off x="114300" y="28575"/>
              <a:ext cx="641268" cy="741260"/>
            </a:xfrm>
            <a:prstGeom prst="rect">
              <a:avLst/>
            </a:prstGeom>
          </p:spPr>
          <p:txBody>
            <a:bodyPr anchor="ctr" rtlCol="false" tIns="50800" lIns="50800" bIns="50800" rIns="50800"/>
            <a:lstStyle/>
            <a:p>
              <a:pPr algn="ctr">
                <a:lnSpc>
                  <a:spcPts val="3199"/>
                </a:lnSpc>
              </a:pPr>
              <a:r>
                <a:rPr lang="en-US" b="true" sz="3199">
                  <a:solidFill>
                    <a:srgbClr val="FFFFFF"/>
                  </a:solidFill>
                  <a:latin typeface="Telegraf Bold"/>
                  <a:ea typeface="Telegraf Bold"/>
                  <a:cs typeface="Telegraf Bold"/>
                  <a:sym typeface="Telegraf Bold"/>
                </a:rPr>
                <a:t>mAP@75 </a:t>
              </a:r>
            </a:p>
          </p:txBody>
        </p:sp>
      </p:grpSp>
      <p:grpSp>
        <p:nvGrpSpPr>
          <p:cNvPr name="Group 15" id="15"/>
          <p:cNvGrpSpPr/>
          <p:nvPr/>
        </p:nvGrpSpPr>
        <p:grpSpPr>
          <a:xfrm rot="0">
            <a:off x="11136636" y="3847636"/>
            <a:ext cx="2919055" cy="2583370"/>
            <a:chOff x="0" y="0"/>
            <a:chExt cx="869868" cy="769835"/>
          </a:xfrm>
        </p:grpSpPr>
        <p:sp>
          <p:nvSpPr>
            <p:cNvPr name="Freeform 16" id="16"/>
            <p:cNvSpPr/>
            <p:nvPr/>
          </p:nvSpPr>
          <p:spPr>
            <a:xfrm flipH="false" flipV="false" rot="0">
              <a:off x="0" y="0"/>
              <a:ext cx="869868" cy="769835"/>
            </a:xfrm>
            <a:custGeom>
              <a:avLst/>
              <a:gdLst/>
              <a:ahLst/>
              <a:cxnLst/>
              <a:rect r="r" b="b" t="t" l="l"/>
              <a:pathLst>
                <a:path h="769835" w="869868">
                  <a:moveTo>
                    <a:pt x="869868" y="384918"/>
                  </a:moveTo>
                  <a:lnTo>
                    <a:pt x="666668" y="769835"/>
                  </a:lnTo>
                  <a:lnTo>
                    <a:pt x="203200" y="769835"/>
                  </a:lnTo>
                  <a:lnTo>
                    <a:pt x="0" y="384918"/>
                  </a:lnTo>
                  <a:lnTo>
                    <a:pt x="203200" y="0"/>
                  </a:lnTo>
                  <a:lnTo>
                    <a:pt x="666668" y="0"/>
                  </a:lnTo>
                  <a:lnTo>
                    <a:pt x="869868" y="384918"/>
                  </a:lnTo>
                  <a:close/>
                </a:path>
              </a:pathLst>
            </a:custGeom>
            <a:solidFill>
              <a:srgbClr val="FFC97F"/>
            </a:solidFill>
          </p:spPr>
        </p:sp>
        <p:sp>
          <p:nvSpPr>
            <p:cNvPr name="TextBox 17" id="17"/>
            <p:cNvSpPr txBox="true"/>
            <p:nvPr/>
          </p:nvSpPr>
          <p:spPr>
            <a:xfrm>
              <a:off x="114300" y="28575"/>
              <a:ext cx="641268" cy="741260"/>
            </a:xfrm>
            <a:prstGeom prst="rect">
              <a:avLst/>
            </a:prstGeom>
          </p:spPr>
          <p:txBody>
            <a:bodyPr anchor="ctr" rtlCol="false" tIns="50800" lIns="50800" bIns="50800" rIns="50800"/>
            <a:lstStyle/>
            <a:p>
              <a:pPr algn="ctr">
                <a:lnSpc>
                  <a:spcPts val="3199"/>
                </a:lnSpc>
              </a:pPr>
              <a:r>
                <a:rPr lang="en-US" b="true" sz="3199">
                  <a:solidFill>
                    <a:srgbClr val="000000"/>
                  </a:solidFill>
                  <a:latin typeface="Telegraf Bold"/>
                  <a:ea typeface="Telegraf Bold"/>
                  <a:cs typeface="Telegraf Bold"/>
                  <a:sym typeface="Telegraf Bold"/>
                </a:rPr>
                <a:t>mAP@50 </a:t>
              </a:r>
            </a:p>
          </p:txBody>
        </p:sp>
      </p:grpSp>
      <p:grpSp>
        <p:nvGrpSpPr>
          <p:cNvPr name="Group 18" id="18"/>
          <p:cNvGrpSpPr/>
          <p:nvPr/>
        </p:nvGrpSpPr>
        <p:grpSpPr>
          <a:xfrm rot="0">
            <a:off x="8773788" y="5139322"/>
            <a:ext cx="2919055" cy="2583370"/>
            <a:chOff x="0" y="0"/>
            <a:chExt cx="869868" cy="769835"/>
          </a:xfrm>
        </p:grpSpPr>
        <p:sp>
          <p:nvSpPr>
            <p:cNvPr name="Freeform 19" id="19"/>
            <p:cNvSpPr/>
            <p:nvPr/>
          </p:nvSpPr>
          <p:spPr>
            <a:xfrm flipH="false" flipV="false" rot="0">
              <a:off x="0" y="0"/>
              <a:ext cx="869868" cy="769835"/>
            </a:xfrm>
            <a:custGeom>
              <a:avLst/>
              <a:gdLst/>
              <a:ahLst/>
              <a:cxnLst/>
              <a:rect r="r" b="b" t="t" l="l"/>
              <a:pathLst>
                <a:path h="769835" w="869868">
                  <a:moveTo>
                    <a:pt x="869868" y="384918"/>
                  </a:moveTo>
                  <a:lnTo>
                    <a:pt x="666668" y="769835"/>
                  </a:lnTo>
                  <a:lnTo>
                    <a:pt x="203200" y="769835"/>
                  </a:lnTo>
                  <a:lnTo>
                    <a:pt x="0" y="384918"/>
                  </a:lnTo>
                  <a:lnTo>
                    <a:pt x="203200" y="0"/>
                  </a:lnTo>
                  <a:lnTo>
                    <a:pt x="666668" y="0"/>
                  </a:lnTo>
                  <a:lnTo>
                    <a:pt x="869868" y="384918"/>
                  </a:lnTo>
                  <a:close/>
                </a:path>
              </a:pathLst>
            </a:custGeom>
            <a:solidFill>
              <a:srgbClr val="02B676"/>
            </a:solidFill>
          </p:spPr>
        </p:sp>
        <p:sp>
          <p:nvSpPr>
            <p:cNvPr name="TextBox 20" id="20"/>
            <p:cNvSpPr txBox="true"/>
            <p:nvPr/>
          </p:nvSpPr>
          <p:spPr>
            <a:xfrm>
              <a:off x="114300" y="28575"/>
              <a:ext cx="641268" cy="741260"/>
            </a:xfrm>
            <a:prstGeom prst="rect">
              <a:avLst/>
            </a:prstGeom>
          </p:spPr>
          <p:txBody>
            <a:bodyPr anchor="ctr" rtlCol="false" tIns="50800" lIns="50800" bIns="50800" rIns="50800"/>
            <a:lstStyle/>
            <a:p>
              <a:pPr algn="ctr">
                <a:lnSpc>
                  <a:spcPts val="3199"/>
                </a:lnSpc>
              </a:pPr>
              <a:r>
                <a:rPr lang="en-US" b="true" sz="3199">
                  <a:solidFill>
                    <a:srgbClr val="FFFFFF"/>
                  </a:solidFill>
                  <a:latin typeface="Telegraf Bold"/>
                  <a:ea typeface="Telegraf Bold"/>
                  <a:cs typeface="Telegraf Bold"/>
                  <a:sym typeface="Telegraf Bold"/>
                </a:rPr>
                <a:t> </a:t>
              </a:r>
              <a:r>
                <a:rPr lang="en-US" b="true" sz="3199">
                  <a:solidFill>
                    <a:srgbClr val="FFFFFF"/>
                  </a:solidFill>
                  <a:latin typeface="Telegraf Bold"/>
                  <a:ea typeface="Telegraf Bold"/>
                  <a:cs typeface="Telegraf Bold"/>
                  <a:sym typeface="Telegraf Bold"/>
                </a:rPr>
                <a:t>F1-S</a:t>
              </a:r>
              <a:r>
                <a:rPr lang="en-US" b="true" sz="3199">
                  <a:solidFill>
                    <a:srgbClr val="FFFFFF"/>
                  </a:solidFill>
                  <a:latin typeface="Telegraf Bold"/>
                  <a:ea typeface="Telegraf Bold"/>
                  <a:cs typeface="Telegraf Bold"/>
                  <a:sym typeface="Telegraf Bold"/>
                </a:rPr>
                <a:t>core</a:t>
              </a:r>
            </a:p>
          </p:txBody>
        </p:sp>
      </p:grpSp>
    </p:spTree>
  </p:cSld>
  <p:clrMapOvr>
    <a:masterClrMapping/>
  </p:clrMapOvr>
</p:sld>
</file>

<file path=ppt/slides/slide15.xml><?xml version="1.0" encoding="utf-8"?>
<p:sld xmlns:p="http://schemas.openxmlformats.org/presentationml/2006/main" xmlns:a="http://schemas.openxmlformats.org/drawingml/2006/main">
  <p:cSld>
    <p:bg>
      <p:bgPr>
        <a:solidFill>
          <a:srgbClr val="EEF4F3"/>
        </a:solidFill>
      </p:bgPr>
    </p:bg>
    <p:spTree>
      <p:nvGrpSpPr>
        <p:cNvPr id="1" name=""/>
        <p:cNvGrpSpPr/>
        <p:nvPr/>
      </p:nvGrpSpPr>
      <p:grpSpPr>
        <a:xfrm>
          <a:off x="0" y="0"/>
          <a:ext cx="0" cy="0"/>
          <a:chOff x="0" y="0"/>
          <a:chExt cx="0" cy="0"/>
        </a:xfrm>
      </p:grpSpPr>
      <p:sp>
        <p:nvSpPr>
          <p:cNvPr name="TextBox 2" id="2"/>
          <p:cNvSpPr txBox="true"/>
          <p:nvPr/>
        </p:nvSpPr>
        <p:spPr>
          <a:xfrm rot="0">
            <a:off x="3720340" y="4611677"/>
            <a:ext cx="10556577" cy="1624315"/>
          </a:xfrm>
          <a:prstGeom prst="rect">
            <a:avLst/>
          </a:prstGeom>
        </p:spPr>
        <p:txBody>
          <a:bodyPr anchor="t" rtlCol="false" tIns="0" lIns="0" bIns="0" rIns="0">
            <a:spAutoFit/>
          </a:bodyPr>
          <a:lstStyle/>
          <a:p>
            <a:pPr algn="ctr">
              <a:lnSpc>
                <a:spcPts val="10699"/>
              </a:lnSpc>
            </a:pPr>
            <a:r>
              <a:rPr lang="en-US" sz="10699" spc="524">
                <a:solidFill>
                  <a:srgbClr val="290606"/>
                </a:solidFill>
                <a:latin typeface="Cheddar"/>
                <a:ea typeface="Cheddar"/>
                <a:cs typeface="Cheddar"/>
                <a:sym typeface="Cheddar"/>
              </a:rPr>
              <a:t>YOLO RESULTS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EF4F3"/>
        </a:solidFill>
      </p:bgPr>
    </p:bg>
    <p:spTree>
      <p:nvGrpSpPr>
        <p:cNvPr id="1" name=""/>
        <p:cNvGrpSpPr/>
        <p:nvPr/>
      </p:nvGrpSpPr>
      <p:grpSpPr>
        <a:xfrm>
          <a:off x="0" y="0"/>
          <a:ext cx="0" cy="0"/>
          <a:chOff x="0" y="0"/>
          <a:chExt cx="0" cy="0"/>
        </a:xfrm>
      </p:grpSpPr>
      <p:sp>
        <p:nvSpPr>
          <p:cNvPr name="Freeform 2" id="2"/>
          <p:cNvSpPr/>
          <p:nvPr/>
        </p:nvSpPr>
        <p:spPr>
          <a:xfrm flipH="false" flipV="false" rot="0">
            <a:off x="794220" y="968610"/>
            <a:ext cx="16699560" cy="8349780"/>
          </a:xfrm>
          <a:custGeom>
            <a:avLst/>
            <a:gdLst/>
            <a:ahLst/>
            <a:cxnLst/>
            <a:rect r="r" b="b" t="t" l="l"/>
            <a:pathLst>
              <a:path h="8349780" w="16699560">
                <a:moveTo>
                  <a:pt x="0" y="0"/>
                </a:moveTo>
                <a:lnTo>
                  <a:pt x="16699560" y="0"/>
                </a:lnTo>
                <a:lnTo>
                  <a:pt x="16699560" y="8349780"/>
                </a:lnTo>
                <a:lnTo>
                  <a:pt x="0" y="8349780"/>
                </a:lnTo>
                <a:lnTo>
                  <a:pt x="0" y="0"/>
                </a:lnTo>
                <a:close/>
              </a:path>
            </a:pathLst>
          </a:custGeom>
          <a:blipFill>
            <a:blip r:embed="rId2"/>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p:cSld>
    <p:bg>
      <p:bgPr>
        <a:solidFill>
          <a:srgbClr val="EEF4F3"/>
        </a:solidFill>
      </p:bgPr>
    </p:bg>
    <p:spTree>
      <p:nvGrpSpPr>
        <p:cNvPr id="1" name=""/>
        <p:cNvGrpSpPr/>
        <p:nvPr/>
      </p:nvGrpSpPr>
      <p:grpSpPr>
        <a:xfrm>
          <a:off x="0" y="0"/>
          <a:ext cx="0" cy="0"/>
          <a:chOff x="0" y="0"/>
          <a:chExt cx="0" cy="0"/>
        </a:xfrm>
      </p:grpSpPr>
      <p:sp>
        <p:nvSpPr>
          <p:cNvPr name="TextBox 2" id="2"/>
          <p:cNvSpPr txBox="true"/>
          <p:nvPr/>
        </p:nvSpPr>
        <p:spPr>
          <a:xfrm rot="0">
            <a:off x="225118" y="487352"/>
            <a:ext cx="10556577" cy="1073170"/>
          </a:xfrm>
          <a:prstGeom prst="rect">
            <a:avLst/>
          </a:prstGeom>
        </p:spPr>
        <p:txBody>
          <a:bodyPr anchor="t" rtlCol="false" tIns="0" lIns="0" bIns="0" rIns="0">
            <a:spAutoFit/>
          </a:bodyPr>
          <a:lstStyle/>
          <a:p>
            <a:pPr algn="l">
              <a:lnSpc>
                <a:spcPts val="6999"/>
              </a:lnSpc>
            </a:pPr>
            <a:r>
              <a:rPr lang="en-US" sz="6999" spc="342">
                <a:solidFill>
                  <a:srgbClr val="290606"/>
                </a:solidFill>
                <a:latin typeface="Cheddar"/>
                <a:ea typeface="Cheddar"/>
                <a:cs typeface="Cheddar"/>
                <a:sym typeface="Cheddar"/>
              </a:rPr>
              <a:t>FINAL RESULTS</a:t>
            </a:r>
          </a:p>
        </p:txBody>
      </p:sp>
      <p:graphicFrame>
        <p:nvGraphicFramePr>
          <p:cNvPr name="Table 3" id="3"/>
          <p:cNvGraphicFramePr>
            <a:graphicFrameLocks noGrp="true"/>
          </p:cNvGraphicFramePr>
          <p:nvPr/>
        </p:nvGraphicFramePr>
        <p:xfrm>
          <a:off x="695492" y="1772908"/>
          <a:ext cx="16897017" cy="7970692"/>
        </p:xfrm>
        <a:graphic>
          <a:graphicData uri="http://schemas.openxmlformats.org/drawingml/2006/table">
            <a:tbl>
              <a:tblPr/>
              <a:tblGrid>
                <a:gridCol w="2344772"/>
                <a:gridCol w="2063621"/>
                <a:gridCol w="1963133"/>
                <a:gridCol w="1974822"/>
                <a:gridCol w="3820505"/>
                <a:gridCol w="2365082"/>
                <a:gridCol w="2365082"/>
              </a:tblGrid>
              <a:tr h="1460747">
                <a:tc>
                  <a:txBody>
                    <a:bodyPr anchor="t" rtlCol="false"/>
                    <a:lstStyle/>
                    <a:p>
                      <a:pPr algn="ctr">
                        <a:lnSpc>
                          <a:spcPts val="4619"/>
                        </a:lnSpc>
                        <a:defRPr/>
                      </a:pP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02B676"/>
                    </a:solidFill>
                  </a:tcPr>
                </a:tc>
                <a:tc>
                  <a:txBody>
                    <a:bodyPr anchor="t" rtlCol="false"/>
                    <a:lstStyle/>
                    <a:p>
                      <a:pPr algn="ctr">
                        <a:lnSpc>
                          <a:spcPts val="4619"/>
                        </a:lnSpc>
                        <a:defRPr/>
                      </a:pPr>
                      <a:r>
                        <a:rPr lang="en-US" sz="3299">
                          <a:solidFill>
                            <a:srgbClr val="000000"/>
                          </a:solidFill>
                          <a:latin typeface="Cheddar"/>
                          <a:ea typeface="Cheddar"/>
                          <a:cs typeface="Cheddar"/>
                          <a:sym typeface="Cheddar"/>
                        </a:rPr>
                        <a:t>Accuracy</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02B676"/>
                    </a:solidFill>
                  </a:tcPr>
                </a:tc>
                <a:tc>
                  <a:txBody>
                    <a:bodyPr anchor="t" rtlCol="false"/>
                    <a:lstStyle/>
                    <a:p>
                      <a:pPr algn="ctr">
                        <a:lnSpc>
                          <a:spcPts val="4619"/>
                        </a:lnSpc>
                        <a:defRPr/>
                      </a:pPr>
                      <a:r>
                        <a:rPr lang="en-US" sz="3299">
                          <a:solidFill>
                            <a:srgbClr val="000000"/>
                          </a:solidFill>
                          <a:latin typeface="Cheddar"/>
                          <a:ea typeface="Cheddar"/>
                          <a:cs typeface="Cheddar"/>
                          <a:sym typeface="Cheddar"/>
                        </a:rPr>
                        <a:t>Precision</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02B676"/>
                    </a:solidFill>
                  </a:tcPr>
                </a:tc>
                <a:tc>
                  <a:txBody>
                    <a:bodyPr anchor="t" rtlCol="false"/>
                    <a:lstStyle/>
                    <a:p>
                      <a:pPr algn="ctr">
                        <a:lnSpc>
                          <a:spcPts val="4619"/>
                        </a:lnSpc>
                        <a:defRPr/>
                      </a:pPr>
                      <a:r>
                        <a:rPr lang="en-US" sz="3299">
                          <a:solidFill>
                            <a:srgbClr val="000000"/>
                          </a:solidFill>
                          <a:latin typeface="Cheddar"/>
                          <a:ea typeface="Cheddar"/>
                          <a:cs typeface="Cheddar"/>
                          <a:sym typeface="Cheddar"/>
                        </a:rPr>
                        <a:t>Recall</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02B676"/>
                    </a:solidFill>
                  </a:tcPr>
                </a:tc>
                <a:tc>
                  <a:txBody>
                    <a:bodyPr anchor="t" rtlCol="false"/>
                    <a:lstStyle/>
                    <a:p>
                      <a:pPr algn="ctr">
                        <a:lnSpc>
                          <a:spcPts val="4619"/>
                        </a:lnSpc>
                        <a:defRPr/>
                      </a:pPr>
                      <a:r>
                        <a:rPr lang="en-US" sz="3299">
                          <a:solidFill>
                            <a:srgbClr val="000000"/>
                          </a:solidFill>
                          <a:latin typeface="Cheddar"/>
                          <a:ea typeface="Cheddar"/>
                          <a:cs typeface="Cheddar"/>
                          <a:sym typeface="Cheddar"/>
                        </a:rPr>
                        <a:t>f1-score</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02B676"/>
                    </a:solidFill>
                  </a:tcPr>
                </a:tc>
                <a:tc>
                  <a:txBody>
                    <a:bodyPr anchor="t" rtlCol="false"/>
                    <a:lstStyle/>
                    <a:p>
                      <a:pPr algn="ctr">
                        <a:lnSpc>
                          <a:spcPts val="4619"/>
                        </a:lnSpc>
                        <a:defRPr/>
                      </a:pPr>
                      <a:r>
                        <a:rPr lang="en-US" sz="3299">
                          <a:solidFill>
                            <a:srgbClr val="000000"/>
                          </a:solidFill>
                          <a:latin typeface="Cheddar"/>
                          <a:ea typeface="Cheddar"/>
                          <a:cs typeface="Cheddar"/>
                          <a:sym typeface="Cheddar"/>
                        </a:rPr>
                        <a:t>mAP@50 </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02B676"/>
                    </a:solidFill>
                  </a:tcPr>
                </a:tc>
                <a:tc>
                  <a:txBody>
                    <a:bodyPr anchor="t" rtlCol="false"/>
                    <a:lstStyle/>
                    <a:p>
                      <a:pPr algn="ctr">
                        <a:lnSpc>
                          <a:spcPts val="4619"/>
                        </a:lnSpc>
                        <a:defRPr/>
                      </a:pPr>
                      <a:r>
                        <a:rPr lang="en-US" sz="3299">
                          <a:solidFill>
                            <a:srgbClr val="000000"/>
                          </a:solidFill>
                          <a:latin typeface="Cheddar"/>
                          <a:ea typeface="Cheddar"/>
                          <a:cs typeface="Cheddar"/>
                          <a:sym typeface="Cheddar"/>
                        </a:rPr>
                        <a:t>mAP@75 </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02B676"/>
                    </a:solidFill>
                  </a:tcPr>
                </a:tc>
              </a:tr>
              <a:tr h="2248100">
                <a:tc>
                  <a:txBody>
                    <a:bodyPr anchor="t" rtlCol="false"/>
                    <a:lstStyle/>
                    <a:p>
                      <a:pPr algn="ctr">
                        <a:lnSpc>
                          <a:spcPts val="4620"/>
                        </a:lnSpc>
                        <a:defRPr/>
                      </a:pPr>
                      <a:r>
                        <a:rPr lang="en-US" sz="3300">
                          <a:solidFill>
                            <a:srgbClr val="000000"/>
                          </a:solidFill>
                          <a:latin typeface="Cheddar"/>
                          <a:ea typeface="Cheddar"/>
                          <a:cs typeface="Cheddar"/>
                          <a:sym typeface="Cheddar"/>
                        </a:rPr>
                        <a:t>YOLO</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C4FFEA"/>
                    </a:solidFill>
                  </a:tcPr>
                </a:tc>
                <a:tc>
                  <a:txBody>
                    <a:bodyPr anchor="t" rtlCol="false"/>
                    <a:lstStyle/>
                    <a:p>
                      <a:pPr algn="ctr">
                        <a:lnSpc>
                          <a:spcPts val="4620"/>
                        </a:lnSpc>
                        <a:defRPr/>
                      </a:pPr>
                      <a:r>
                        <a:rPr lang="en-US" sz="3300">
                          <a:solidFill>
                            <a:srgbClr val="000000"/>
                          </a:solidFill>
                          <a:latin typeface="Cheddar"/>
                          <a:ea typeface="Cheddar"/>
                          <a:cs typeface="Cheddar"/>
                          <a:sym typeface="Cheddar"/>
                        </a:rPr>
                        <a:t>---------</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C4FFEA"/>
                    </a:solidFill>
                  </a:tcPr>
                </a:tc>
                <a:tc>
                  <a:txBody>
                    <a:bodyPr anchor="t" rtlCol="false"/>
                    <a:lstStyle/>
                    <a:p>
                      <a:pPr algn="ctr">
                        <a:lnSpc>
                          <a:spcPts val="4620"/>
                        </a:lnSpc>
                        <a:defRPr/>
                      </a:pPr>
                      <a:r>
                        <a:rPr lang="en-US" sz="3300">
                          <a:solidFill>
                            <a:srgbClr val="000000"/>
                          </a:solidFill>
                          <a:latin typeface="Cheddar"/>
                          <a:ea typeface="Cheddar"/>
                          <a:cs typeface="Cheddar"/>
                          <a:sym typeface="Cheddar"/>
                        </a:rPr>
                        <a:t>0.93</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C4FFEA"/>
                    </a:solidFill>
                  </a:tcPr>
                </a:tc>
                <a:tc>
                  <a:txBody>
                    <a:bodyPr anchor="t" rtlCol="false"/>
                    <a:lstStyle/>
                    <a:p>
                      <a:pPr algn="ctr">
                        <a:lnSpc>
                          <a:spcPts val="4620"/>
                        </a:lnSpc>
                        <a:defRPr/>
                      </a:pPr>
                      <a:r>
                        <a:rPr lang="en-US" sz="3300">
                          <a:solidFill>
                            <a:srgbClr val="000000"/>
                          </a:solidFill>
                          <a:latin typeface="Cheddar"/>
                          <a:ea typeface="Cheddar"/>
                          <a:cs typeface="Cheddar"/>
                          <a:sym typeface="Cheddar"/>
                        </a:rPr>
                        <a:t>0.95</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C4FFEA"/>
                    </a:solidFill>
                  </a:tcPr>
                </a:tc>
                <a:tc>
                  <a:txBody>
                    <a:bodyPr anchor="t" rtlCol="false"/>
                    <a:lstStyle/>
                    <a:p>
                      <a:pPr algn="ctr">
                        <a:lnSpc>
                          <a:spcPts val="4620"/>
                        </a:lnSpc>
                        <a:defRPr/>
                      </a:pPr>
                      <a:r>
                        <a:rPr lang="en-US" sz="3300">
                          <a:solidFill>
                            <a:srgbClr val="000000"/>
                          </a:solidFill>
                          <a:latin typeface="Cheddar"/>
                          <a:ea typeface="Cheddar"/>
                          <a:cs typeface="Cheddar"/>
                          <a:sym typeface="Cheddar"/>
                        </a:rPr>
                        <a:t>stop : 0.92351 left_right : 0.96824</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C4FFEA"/>
                    </a:solidFill>
                  </a:tcPr>
                </a:tc>
                <a:tc>
                  <a:txBody>
                    <a:bodyPr anchor="t" rtlCol="false"/>
                    <a:lstStyle/>
                    <a:p>
                      <a:pPr algn="ctr">
                        <a:lnSpc>
                          <a:spcPts val="4620"/>
                        </a:lnSpc>
                        <a:defRPr/>
                      </a:pPr>
                      <a:r>
                        <a:rPr lang="en-US" sz="3300">
                          <a:solidFill>
                            <a:srgbClr val="000000"/>
                          </a:solidFill>
                          <a:latin typeface="Cheddar"/>
                          <a:ea typeface="Cheddar"/>
                          <a:cs typeface="Cheddar"/>
                          <a:sym typeface="Cheddar"/>
                        </a:rPr>
                        <a:t>0.98368</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C4FFEA"/>
                    </a:solidFill>
                  </a:tcPr>
                </a:tc>
                <a:tc>
                  <a:txBody>
                    <a:bodyPr anchor="t" rtlCol="false"/>
                    <a:lstStyle/>
                    <a:p>
                      <a:pPr algn="ctr">
                        <a:lnSpc>
                          <a:spcPts val="4620"/>
                        </a:lnSpc>
                        <a:defRPr/>
                      </a:pPr>
                      <a:r>
                        <a:rPr lang="en-US" sz="3300">
                          <a:solidFill>
                            <a:srgbClr val="000000"/>
                          </a:solidFill>
                          <a:latin typeface="Cheddar"/>
                          <a:ea typeface="Cheddar"/>
                          <a:cs typeface="Cheddar"/>
                          <a:sym typeface="Cheddar"/>
                        </a:rPr>
                        <a:t>0.96899</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C4FFEA"/>
                    </a:solidFill>
                  </a:tcPr>
                </a:tc>
              </a:tr>
              <a:tr h="1904185">
                <a:tc>
                  <a:txBody>
                    <a:bodyPr anchor="t" rtlCol="false"/>
                    <a:lstStyle/>
                    <a:p>
                      <a:pPr algn="ctr">
                        <a:lnSpc>
                          <a:spcPts val="4620"/>
                        </a:lnSpc>
                        <a:defRPr/>
                      </a:pPr>
                      <a:r>
                        <a:rPr lang="en-US" sz="3300">
                          <a:solidFill>
                            <a:srgbClr val="000000"/>
                          </a:solidFill>
                          <a:latin typeface="Cheddar"/>
                          <a:ea typeface="Cheddar"/>
                          <a:cs typeface="Cheddar"/>
                          <a:sym typeface="Cheddar"/>
                        </a:rPr>
                        <a:t>RESNET</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C4FFEA"/>
                    </a:solidFill>
                  </a:tcPr>
                </a:tc>
                <a:tc>
                  <a:txBody>
                    <a:bodyPr anchor="t" rtlCol="false"/>
                    <a:lstStyle/>
                    <a:p>
                      <a:pPr algn="ctr">
                        <a:lnSpc>
                          <a:spcPts val="4620"/>
                        </a:lnSpc>
                        <a:defRPr/>
                      </a:pPr>
                      <a:r>
                        <a:rPr lang="en-US" sz="3300">
                          <a:solidFill>
                            <a:srgbClr val="000000"/>
                          </a:solidFill>
                          <a:latin typeface="Cheddar"/>
                          <a:ea typeface="Cheddar"/>
                          <a:cs typeface="Cheddar"/>
                          <a:sym typeface="Cheddar"/>
                        </a:rPr>
                        <a:t>0.96</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C4FFEA"/>
                    </a:solidFill>
                  </a:tcPr>
                </a:tc>
                <a:tc>
                  <a:txBody>
                    <a:bodyPr anchor="t" rtlCol="false"/>
                    <a:lstStyle/>
                    <a:p>
                      <a:pPr algn="ctr">
                        <a:lnSpc>
                          <a:spcPts val="4620"/>
                        </a:lnSpc>
                        <a:defRPr/>
                      </a:pPr>
                      <a:r>
                        <a:rPr lang="en-US" sz="3300">
                          <a:solidFill>
                            <a:srgbClr val="000000"/>
                          </a:solidFill>
                          <a:latin typeface="Cheddar"/>
                          <a:ea typeface="Cheddar"/>
                          <a:cs typeface="Cheddar"/>
                          <a:sym typeface="Cheddar"/>
                        </a:rPr>
                        <a:t>0.96</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C4FFEA"/>
                    </a:solidFill>
                  </a:tcPr>
                </a:tc>
                <a:tc>
                  <a:txBody>
                    <a:bodyPr anchor="t" rtlCol="false"/>
                    <a:lstStyle/>
                    <a:p>
                      <a:pPr algn="ctr">
                        <a:lnSpc>
                          <a:spcPts val="4620"/>
                        </a:lnSpc>
                        <a:defRPr/>
                      </a:pPr>
                      <a:r>
                        <a:rPr lang="en-US" sz="3300">
                          <a:solidFill>
                            <a:srgbClr val="000000"/>
                          </a:solidFill>
                          <a:latin typeface="Cheddar"/>
                          <a:ea typeface="Cheddar"/>
                          <a:cs typeface="Cheddar"/>
                          <a:sym typeface="Cheddar"/>
                        </a:rPr>
                        <a:t>0.96</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C4FFEA"/>
                    </a:solidFill>
                  </a:tcPr>
                </a:tc>
                <a:tc>
                  <a:txBody>
                    <a:bodyPr anchor="t" rtlCol="false"/>
                    <a:lstStyle/>
                    <a:p>
                      <a:pPr algn="ctr">
                        <a:lnSpc>
                          <a:spcPts val="4620"/>
                        </a:lnSpc>
                        <a:defRPr/>
                      </a:pPr>
                      <a:r>
                        <a:rPr lang="en-US" sz="3300">
                          <a:solidFill>
                            <a:srgbClr val="000000"/>
                          </a:solidFill>
                          <a:latin typeface="Cheddar"/>
                          <a:ea typeface="Cheddar"/>
                          <a:cs typeface="Cheddar"/>
                          <a:sym typeface="Cheddar"/>
                        </a:rPr>
                        <a:t>0.96</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C4FFEA"/>
                    </a:solidFill>
                  </a:tcPr>
                </a:tc>
                <a:tc>
                  <a:txBody>
                    <a:bodyPr anchor="t" rtlCol="false"/>
                    <a:lstStyle/>
                    <a:p>
                      <a:pPr algn="ctr">
                        <a:lnSpc>
                          <a:spcPts val="4620"/>
                        </a:lnSpc>
                        <a:defRPr/>
                      </a:pPr>
                      <a:r>
                        <a:rPr lang="en-US" sz="3300">
                          <a:solidFill>
                            <a:srgbClr val="000000"/>
                          </a:solidFill>
                          <a:latin typeface="Cheddar"/>
                          <a:ea typeface="Cheddar"/>
                          <a:cs typeface="Cheddar"/>
                          <a:sym typeface="Cheddar"/>
                        </a:rPr>
                        <a:t>----------</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C4FFEA"/>
                    </a:solidFill>
                  </a:tcPr>
                </a:tc>
                <a:tc>
                  <a:txBody>
                    <a:bodyPr anchor="t" rtlCol="false"/>
                    <a:lstStyle/>
                    <a:p>
                      <a:pPr algn="ctr">
                        <a:lnSpc>
                          <a:spcPts val="4620"/>
                        </a:lnSpc>
                        <a:defRPr/>
                      </a:pPr>
                      <a:r>
                        <a:rPr lang="en-US" sz="3300">
                          <a:solidFill>
                            <a:srgbClr val="000000"/>
                          </a:solidFill>
                          <a:latin typeface="Cheddar"/>
                          <a:ea typeface="Cheddar"/>
                          <a:cs typeface="Cheddar"/>
                          <a:sym typeface="Cheddar"/>
                        </a:rPr>
                        <a:t>----------</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C4FFEA"/>
                    </a:solidFill>
                  </a:tcPr>
                </a:tc>
              </a:tr>
              <a:tr h="2357660">
                <a:tc>
                  <a:txBody>
                    <a:bodyPr anchor="t" rtlCol="false"/>
                    <a:lstStyle/>
                    <a:p>
                      <a:pPr algn="ctr">
                        <a:lnSpc>
                          <a:spcPts val="4620"/>
                        </a:lnSpc>
                        <a:defRPr/>
                      </a:pPr>
                      <a:r>
                        <a:rPr lang="en-US" sz="3300">
                          <a:solidFill>
                            <a:srgbClr val="000000"/>
                          </a:solidFill>
                          <a:latin typeface="Cheddar"/>
                          <a:ea typeface="Cheddar"/>
                          <a:cs typeface="Cheddar"/>
                          <a:sym typeface="Cheddar"/>
                        </a:rPr>
                        <a:t>integrated</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C4FFEA"/>
                    </a:solidFill>
                  </a:tcPr>
                </a:tc>
                <a:tc>
                  <a:txBody>
                    <a:bodyPr anchor="t" rtlCol="false"/>
                    <a:lstStyle/>
                    <a:p>
                      <a:pPr algn="ctr">
                        <a:lnSpc>
                          <a:spcPts val="4620"/>
                        </a:lnSpc>
                        <a:defRPr/>
                      </a:pPr>
                      <a:r>
                        <a:rPr lang="en-US" sz="3300">
                          <a:solidFill>
                            <a:srgbClr val="000000"/>
                          </a:solidFill>
                          <a:latin typeface="Cheddar"/>
                          <a:ea typeface="Cheddar"/>
                          <a:cs typeface="Cheddar"/>
                          <a:sym typeface="Cheddar"/>
                        </a:rPr>
                        <a:t>0.99</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C4FFEA"/>
                    </a:solidFill>
                  </a:tcPr>
                </a:tc>
                <a:tc>
                  <a:txBody>
                    <a:bodyPr anchor="t" rtlCol="false"/>
                    <a:lstStyle/>
                    <a:p>
                      <a:pPr algn="ctr">
                        <a:lnSpc>
                          <a:spcPts val="4620"/>
                        </a:lnSpc>
                        <a:defRPr/>
                      </a:pPr>
                      <a:r>
                        <a:rPr lang="en-US" sz="3300">
                          <a:solidFill>
                            <a:srgbClr val="000000"/>
                          </a:solidFill>
                          <a:latin typeface="Cheddar"/>
                          <a:ea typeface="Cheddar"/>
                          <a:cs typeface="Cheddar"/>
                          <a:sym typeface="Cheddar"/>
                        </a:rPr>
                        <a:t>0.99</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C4FFEA"/>
                    </a:solidFill>
                  </a:tcPr>
                </a:tc>
                <a:tc>
                  <a:txBody>
                    <a:bodyPr anchor="t" rtlCol="false"/>
                    <a:lstStyle/>
                    <a:p>
                      <a:pPr algn="ctr">
                        <a:lnSpc>
                          <a:spcPts val="4620"/>
                        </a:lnSpc>
                        <a:defRPr/>
                      </a:pPr>
                      <a:r>
                        <a:rPr lang="en-US" sz="3300">
                          <a:solidFill>
                            <a:srgbClr val="000000"/>
                          </a:solidFill>
                          <a:latin typeface="Cheddar"/>
                          <a:ea typeface="Cheddar"/>
                          <a:cs typeface="Cheddar"/>
                          <a:sym typeface="Cheddar"/>
                        </a:rPr>
                        <a:t>0.99</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C4FFEA"/>
                    </a:solidFill>
                  </a:tcPr>
                </a:tc>
                <a:tc>
                  <a:txBody>
                    <a:bodyPr anchor="t" rtlCol="false"/>
                    <a:lstStyle/>
                    <a:p>
                      <a:pPr algn="ctr">
                        <a:lnSpc>
                          <a:spcPts val="4620"/>
                        </a:lnSpc>
                        <a:defRPr/>
                      </a:pPr>
                      <a:r>
                        <a:rPr lang="en-US" sz="3300">
                          <a:solidFill>
                            <a:srgbClr val="000000"/>
                          </a:solidFill>
                          <a:latin typeface="Cheddar"/>
                          <a:ea typeface="Cheddar"/>
                          <a:cs typeface="Cheddar"/>
                          <a:sym typeface="Cheddar"/>
                        </a:rPr>
                        <a:t>0.99</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C4FFEA"/>
                    </a:solidFill>
                  </a:tcPr>
                </a:tc>
                <a:tc>
                  <a:txBody>
                    <a:bodyPr anchor="t" rtlCol="false"/>
                    <a:lstStyle/>
                    <a:p>
                      <a:pPr algn="ctr">
                        <a:lnSpc>
                          <a:spcPts val="4620"/>
                        </a:lnSpc>
                        <a:defRPr/>
                      </a:pPr>
                      <a:r>
                        <a:rPr lang="en-US" sz="3300">
                          <a:solidFill>
                            <a:srgbClr val="000000"/>
                          </a:solidFill>
                          <a:latin typeface="Cheddar"/>
                          <a:ea typeface="Cheddar"/>
                          <a:cs typeface="Cheddar"/>
                          <a:sym typeface="Cheddar"/>
                        </a:rPr>
                        <a:t>----------</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C4FFEA"/>
                    </a:solidFill>
                  </a:tcPr>
                </a:tc>
                <a:tc>
                  <a:txBody>
                    <a:bodyPr anchor="t" rtlCol="false"/>
                    <a:lstStyle/>
                    <a:p>
                      <a:pPr algn="ctr">
                        <a:lnSpc>
                          <a:spcPts val="4620"/>
                        </a:lnSpc>
                        <a:defRPr/>
                      </a:pPr>
                      <a:r>
                        <a:rPr lang="en-US" sz="3300">
                          <a:solidFill>
                            <a:srgbClr val="000000"/>
                          </a:solidFill>
                          <a:latin typeface="Cheddar"/>
                          <a:ea typeface="Cheddar"/>
                          <a:cs typeface="Cheddar"/>
                          <a:sym typeface="Cheddar"/>
                        </a:rPr>
                        <a:t>0.97899</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C4FFEA"/>
                    </a:solidFill>
                  </a:tcPr>
                </a:tc>
              </a:tr>
            </a:tbl>
          </a:graphicData>
        </a:graphic>
      </p:graphicFrame>
    </p:spTree>
  </p:cSld>
  <p:clrMapOvr>
    <a:masterClrMapping/>
  </p:clrMapOvr>
</p:sld>
</file>

<file path=ppt/slides/slide18.xml><?xml version="1.0" encoding="utf-8"?>
<p:sld xmlns:p="http://schemas.openxmlformats.org/presentationml/2006/main" xmlns:a="http://schemas.openxmlformats.org/drawingml/2006/main">
  <p:cSld>
    <p:bg>
      <p:bgPr>
        <a:solidFill>
          <a:srgbClr val="EEF4F3"/>
        </a:solidFill>
      </p:bgPr>
    </p:bg>
    <p:spTree>
      <p:nvGrpSpPr>
        <p:cNvPr id="1" name=""/>
        <p:cNvGrpSpPr/>
        <p:nvPr/>
      </p:nvGrpSpPr>
      <p:grpSpPr>
        <a:xfrm>
          <a:off x="0" y="0"/>
          <a:ext cx="0" cy="0"/>
          <a:chOff x="0" y="0"/>
          <a:chExt cx="0" cy="0"/>
        </a:xfrm>
      </p:grpSpPr>
      <p:sp>
        <p:nvSpPr>
          <p:cNvPr name="TextBox 2" id="2"/>
          <p:cNvSpPr txBox="true"/>
          <p:nvPr/>
        </p:nvSpPr>
        <p:spPr>
          <a:xfrm rot="0">
            <a:off x="0" y="4148480"/>
            <a:ext cx="18288000" cy="1990039"/>
          </a:xfrm>
          <a:prstGeom prst="rect">
            <a:avLst/>
          </a:prstGeom>
        </p:spPr>
        <p:txBody>
          <a:bodyPr anchor="t" rtlCol="false" tIns="0" lIns="0" bIns="0" rIns="0">
            <a:spAutoFit/>
          </a:bodyPr>
          <a:lstStyle/>
          <a:p>
            <a:pPr algn="ctr">
              <a:lnSpc>
                <a:spcPts val="13098"/>
              </a:lnSpc>
            </a:pPr>
            <a:r>
              <a:rPr lang="en-US" sz="13098" spc="641">
                <a:solidFill>
                  <a:srgbClr val="290606"/>
                </a:solidFill>
                <a:latin typeface="Cheddar"/>
                <a:ea typeface="Cheddar"/>
                <a:cs typeface="Cheddar"/>
                <a:sym typeface="Cheddar"/>
              </a:rPr>
              <a:t>CONFUSION MATRIX</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EF4F3"/>
        </a:solidFill>
      </p:bgPr>
    </p:bg>
    <p:spTree>
      <p:nvGrpSpPr>
        <p:cNvPr id="1" name=""/>
        <p:cNvGrpSpPr/>
        <p:nvPr/>
      </p:nvGrpSpPr>
      <p:grpSpPr>
        <a:xfrm>
          <a:off x="0" y="0"/>
          <a:ext cx="0" cy="0"/>
          <a:chOff x="0" y="0"/>
          <a:chExt cx="0" cy="0"/>
        </a:xfrm>
      </p:grpSpPr>
      <p:sp>
        <p:nvSpPr>
          <p:cNvPr name="Freeform 2" id="2"/>
          <p:cNvSpPr/>
          <p:nvPr/>
        </p:nvSpPr>
        <p:spPr>
          <a:xfrm flipH="false" flipV="false" rot="0">
            <a:off x="3399148" y="1300201"/>
            <a:ext cx="11489703" cy="8986799"/>
          </a:xfrm>
          <a:custGeom>
            <a:avLst/>
            <a:gdLst/>
            <a:ahLst/>
            <a:cxnLst/>
            <a:rect r="r" b="b" t="t" l="l"/>
            <a:pathLst>
              <a:path h="8986799" w="11489703">
                <a:moveTo>
                  <a:pt x="0" y="0"/>
                </a:moveTo>
                <a:lnTo>
                  <a:pt x="11489704" y="0"/>
                </a:lnTo>
                <a:lnTo>
                  <a:pt x="11489704" y="8986799"/>
                </a:lnTo>
                <a:lnTo>
                  <a:pt x="0" y="8986799"/>
                </a:lnTo>
                <a:lnTo>
                  <a:pt x="0" y="0"/>
                </a:lnTo>
                <a:close/>
              </a:path>
            </a:pathLst>
          </a:custGeom>
          <a:blipFill>
            <a:blip r:embed="rId2"/>
            <a:stretch>
              <a:fillRect l="-2144" t="0" r="-2144" b="0"/>
            </a:stretch>
          </a:blipFill>
        </p:spPr>
      </p:sp>
      <p:sp>
        <p:nvSpPr>
          <p:cNvPr name="TextBox 3" id="3"/>
          <p:cNvSpPr txBox="true"/>
          <p:nvPr/>
        </p:nvSpPr>
        <p:spPr>
          <a:xfrm rot="0">
            <a:off x="3865712" y="-9525"/>
            <a:ext cx="10556577" cy="1073170"/>
          </a:xfrm>
          <a:prstGeom prst="rect">
            <a:avLst/>
          </a:prstGeom>
        </p:spPr>
        <p:txBody>
          <a:bodyPr anchor="t" rtlCol="false" tIns="0" lIns="0" bIns="0" rIns="0">
            <a:spAutoFit/>
          </a:bodyPr>
          <a:lstStyle/>
          <a:p>
            <a:pPr algn="ctr">
              <a:lnSpc>
                <a:spcPts val="6999"/>
              </a:lnSpc>
            </a:pPr>
            <a:r>
              <a:rPr lang="en-US" sz="6999" spc="342">
                <a:solidFill>
                  <a:srgbClr val="290606"/>
                </a:solidFill>
                <a:latin typeface="Cheddar"/>
                <a:ea typeface="Cheddar"/>
                <a:cs typeface="Cheddar"/>
                <a:sym typeface="Cheddar"/>
              </a:rPr>
              <a:t>YOLO</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EF4F3"/>
        </a:solidFill>
      </p:bgPr>
    </p:bg>
    <p:spTree>
      <p:nvGrpSpPr>
        <p:cNvPr id="1" name=""/>
        <p:cNvGrpSpPr/>
        <p:nvPr/>
      </p:nvGrpSpPr>
      <p:grpSpPr>
        <a:xfrm>
          <a:off x="0" y="0"/>
          <a:ext cx="0" cy="0"/>
          <a:chOff x="0" y="0"/>
          <a:chExt cx="0" cy="0"/>
        </a:xfrm>
      </p:grpSpPr>
      <p:sp>
        <p:nvSpPr>
          <p:cNvPr name="Freeform 2" id="2"/>
          <p:cNvSpPr/>
          <p:nvPr/>
        </p:nvSpPr>
        <p:spPr>
          <a:xfrm flipH="false" flipV="false" rot="0">
            <a:off x="3865712" y="1361195"/>
            <a:ext cx="10556577" cy="8925805"/>
          </a:xfrm>
          <a:custGeom>
            <a:avLst/>
            <a:gdLst/>
            <a:ahLst/>
            <a:cxnLst/>
            <a:rect r="r" b="b" t="t" l="l"/>
            <a:pathLst>
              <a:path h="8925805" w="10556577">
                <a:moveTo>
                  <a:pt x="0" y="0"/>
                </a:moveTo>
                <a:lnTo>
                  <a:pt x="10556576" y="0"/>
                </a:lnTo>
                <a:lnTo>
                  <a:pt x="10556576" y="8925805"/>
                </a:lnTo>
                <a:lnTo>
                  <a:pt x="0" y="8925805"/>
                </a:lnTo>
                <a:lnTo>
                  <a:pt x="0" y="0"/>
                </a:lnTo>
                <a:close/>
              </a:path>
            </a:pathLst>
          </a:custGeom>
          <a:blipFill>
            <a:blip r:embed="rId2"/>
            <a:stretch>
              <a:fillRect l="0" t="-671" r="0" b="-671"/>
            </a:stretch>
          </a:blipFill>
        </p:spPr>
      </p:sp>
      <p:sp>
        <p:nvSpPr>
          <p:cNvPr name="TextBox 3" id="3"/>
          <p:cNvSpPr txBox="true"/>
          <p:nvPr/>
        </p:nvSpPr>
        <p:spPr>
          <a:xfrm rot="0">
            <a:off x="3865712" y="288025"/>
            <a:ext cx="10556577" cy="1073170"/>
          </a:xfrm>
          <a:prstGeom prst="rect">
            <a:avLst/>
          </a:prstGeom>
        </p:spPr>
        <p:txBody>
          <a:bodyPr anchor="t" rtlCol="false" tIns="0" lIns="0" bIns="0" rIns="0">
            <a:spAutoFit/>
          </a:bodyPr>
          <a:lstStyle/>
          <a:p>
            <a:pPr algn="ctr">
              <a:lnSpc>
                <a:spcPts val="6999"/>
              </a:lnSpc>
            </a:pPr>
            <a:r>
              <a:rPr lang="en-US" sz="6999" spc="342">
                <a:solidFill>
                  <a:srgbClr val="290606"/>
                </a:solidFill>
                <a:latin typeface="Cheddar"/>
                <a:ea typeface="Cheddar"/>
                <a:cs typeface="Cheddar"/>
                <a:sym typeface="Cheddar"/>
              </a:rPr>
              <a:t>RESNET</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EF4F3"/>
        </a:solidFill>
      </p:bgPr>
    </p:bg>
    <p:spTree>
      <p:nvGrpSpPr>
        <p:cNvPr id="1" name=""/>
        <p:cNvGrpSpPr/>
        <p:nvPr/>
      </p:nvGrpSpPr>
      <p:grpSpPr>
        <a:xfrm>
          <a:off x="0" y="0"/>
          <a:ext cx="0" cy="0"/>
          <a:chOff x="0" y="0"/>
          <a:chExt cx="0" cy="0"/>
        </a:xfrm>
      </p:grpSpPr>
      <p:sp>
        <p:nvSpPr>
          <p:cNvPr name="Freeform 2" id="2"/>
          <p:cNvSpPr/>
          <p:nvPr/>
        </p:nvSpPr>
        <p:spPr>
          <a:xfrm flipH="false" flipV="false" rot="0">
            <a:off x="4265951" y="1117600"/>
            <a:ext cx="9756098" cy="9169400"/>
          </a:xfrm>
          <a:custGeom>
            <a:avLst/>
            <a:gdLst/>
            <a:ahLst/>
            <a:cxnLst/>
            <a:rect r="r" b="b" t="t" l="l"/>
            <a:pathLst>
              <a:path h="9169400" w="9756098">
                <a:moveTo>
                  <a:pt x="0" y="0"/>
                </a:moveTo>
                <a:lnTo>
                  <a:pt x="9756098" y="0"/>
                </a:lnTo>
                <a:lnTo>
                  <a:pt x="9756098" y="9169400"/>
                </a:lnTo>
                <a:lnTo>
                  <a:pt x="0" y="9169400"/>
                </a:lnTo>
                <a:lnTo>
                  <a:pt x="0" y="0"/>
                </a:lnTo>
                <a:close/>
              </a:path>
            </a:pathLst>
          </a:custGeom>
          <a:blipFill>
            <a:blip r:embed="rId2"/>
            <a:stretch>
              <a:fillRect l="-403" t="0" r="-403" b="0"/>
            </a:stretch>
          </a:blipFill>
        </p:spPr>
      </p:sp>
      <p:sp>
        <p:nvSpPr>
          <p:cNvPr name="TextBox 3" id="3"/>
          <p:cNvSpPr txBox="true"/>
          <p:nvPr/>
        </p:nvSpPr>
        <p:spPr>
          <a:xfrm rot="0">
            <a:off x="3865712" y="44430"/>
            <a:ext cx="10556577" cy="1073170"/>
          </a:xfrm>
          <a:prstGeom prst="rect">
            <a:avLst/>
          </a:prstGeom>
        </p:spPr>
        <p:txBody>
          <a:bodyPr anchor="t" rtlCol="false" tIns="0" lIns="0" bIns="0" rIns="0">
            <a:spAutoFit/>
          </a:bodyPr>
          <a:lstStyle/>
          <a:p>
            <a:pPr algn="ctr">
              <a:lnSpc>
                <a:spcPts val="6999"/>
              </a:lnSpc>
            </a:pPr>
            <a:r>
              <a:rPr lang="en-US" sz="6999" spc="342">
                <a:solidFill>
                  <a:srgbClr val="290606"/>
                </a:solidFill>
                <a:latin typeface="Cheddar"/>
                <a:ea typeface="Cheddar"/>
                <a:cs typeface="Cheddar"/>
                <a:sym typeface="Cheddar"/>
              </a:rPr>
              <a:t>INTEGRATED</a:t>
            </a:r>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EEF4F3"/>
        </a:solidFill>
      </p:bgPr>
    </p:bg>
    <p:spTree>
      <p:nvGrpSpPr>
        <p:cNvPr id="1" name=""/>
        <p:cNvGrpSpPr/>
        <p:nvPr/>
      </p:nvGrpSpPr>
      <p:grpSpPr>
        <a:xfrm>
          <a:off x="0" y="0"/>
          <a:ext cx="0" cy="0"/>
          <a:chOff x="0" y="0"/>
          <a:chExt cx="0" cy="0"/>
        </a:xfrm>
      </p:grpSpPr>
      <p:sp>
        <p:nvSpPr>
          <p:cNvPr name="TextBox 2" id="2"/>
          <p:cNvSpPr txBox="true"/>
          <p:nvPr/>
        </p:nvSpPr>
        <p:spPr>
          <a:xfrm rot="0">
            <a:off x="1792149" y="724865"/>
            <a:ext cx="10765340" cy="995074"/>
          </a:xfrm>
          <a:prstGeom prst="rect">
            <a:avLst/>
          </a:prstGeom>
        </p:spPr>
        <p:txBody>
          <a:bodyPr anchor="t" rtlCol="false" tIns="0" lIns="0" bIns="0" rIns="0">
            <a:spAutoFit/>
          </a:bodyPr>
          <a:lstStyle/>
          <a:p>
            <a:pPr algn="l">
              <a:lnSpc>
                <a:spcPts val="6548"/>
              </a:lnSpc>
            </a:pPr>
            <a:r>
              <a:rPr lang="en-US" sz="6548" spc="320">
                <a:solidFill>
                  <a:srgbClr val="290606"/>
                </a:solidFill>
                <a:latin typeface="Cheddar"/>
                <a:ea typeface="Cheddar"/>
                <a:cs typeface="Cheddar"/>
                <a:sym typeface="Cheddar"/>
              </a:rPr>
              <a:t>CONCLUSION</a:t>
            </a:r>
          </a:p>
        </p:txBody>
      </p:sp>
      <p:grpSp>
        <p:nvGrpSpPr>
          <p:cNvPr name="Group 3" id="3"/>
          <p:cNvGrpSpPr/>
          <p:nvPr/>
        </p:nvGrpSpPr>
        <p:grpSpPr>
          <a:xfrm rot="0">
            <a:off x="832500" y="2189467"/>
            <a:ext cx="15268512" cy="6924207"/>
            <a:chOff x="0" y="0"/>
            <a:chExt cx="3644598" cy="1652810"/>
          </a:xfrm>
        </p:grpSpPr>
        <p:sp>
          <p:nvSpPr>
            <p:cNvPr name="Freeform 4" id="4"/>
            <p:cNvSpPr/>
            <p:nvPr/>
          </p:nvSpPr>
          <p:spPr>
            <a:xfrm flipH="false" flipV="false" rot="0">
              <a:off x="0" y="0"/>
              <a:ext cx="3644598" cy="1652810"/>
            </a:xfrm>
            <a:custGeom>
              <a:avLst/>
              <a:gdLst/>
              <a:ahLst/>
              <a:cxnLst/>
              <a:rect r="r" b="b" t="t" l="l"/>
              <a:pathLst>
                <a:path h="1652810" w="3644598">
                  <a:moveTo>
                    <a:pt x="25860" y="0"/>
                  </a:moveTo>
                  <a:lnTo>
                    <a:pt x="3618738" y="0"/>
                  </a:lnTo>
                  <a:cubicBezTo>
                    <a:pt x="3625597" y="0"/>
                    <a:pt x="3632174" y="2724"/>
                    <a:pt x="3637024" y="7574"/>
                  </a:cubicBezTo>
                  <a:cubicBezTo>
                    <a:pt x="3641873" y="12424"/>
                    <a:pt x="3644598" y="19001"/>
                    <a:pt x="3644598" y="25860"/>
                  </a:cubicBezTo>
                  <a:lnTo>
                    <a:pt x="3644598" y="1626950"/>
                  </a:lnTo>
                  <a:cubicBezTo>
                    <a:pt x="3644598" y="1633809"/>
                    <a:pt x="3641873" y="1640386"/>
                    <a:pt x="3637024" y="1645236"/>
                  </a:cubicBezTo>
                  <a:cubicBezTo>
                    <a:pt x="3632174" y="1650086"/>
                    <a:pt x="3625597" y="1652810"/>
                    <a:pt x="3618738" y="1652810"/>
                  </a:cubicBezTo>
                  <a:lnTo>
                    <a:pt x="25860" y="1652810"/>
                  </a:lnTo>
                  <a:cubicBezTo>
                    <a:pt x="19001" y="1652810"/>
                    <a:pt x="12424" y="1650086"/>
                    <a:pt x="7574" y="1645236"/>
                  </a:cubicBezTo>
                  <a:cubicBezTo>
                    <a:pt x="2724" y="1640386"/>
                    <a:pt x="0" y="1633809"/>
                    <a:pt x="0" y="1626950"/>
                  </a:cubicBezTo>
                  <a:lnTo>
                    <a:pt x="0" y="25860"/>
                  </a:lnTo>
                  <a:cubicBezTo>
                    <a:pt x="0" y="19001"/>
                    <a:pt x="2724" y="12424"/>
                    <a:pt x="7574" y="7574"/>
                  </a:cubicBezTo>
                  <a:cubicBezTo>
                    <a:pt x="12424" y="2724"/>
                    <a:pt x="19001" y="0"/>
                    <a:pt x="25860" y="0"/>
                  </a:cubicBezTo>
                  <a:close/>
                </a:path>
              </a:pathLst>
            </a:custGeom>
            <a:solidFill>
              <a:srgbClr val="F7562B"/>
            </a:solidFill>
          </p:spPr>
        </p:sp>
        <p:sp>
          <p:nvSpPr>
            <p:cNvPr name="TextBox 5" id="5"/>
            <p:cNvSpPr txBox="true"/>
            <p:nvPr/>
          </p:nvSpPr>
          <p:spPr>
            <a:xfrm>
              <a:off x="0" y="9525"/>
              <a:ext cx="3644598" cy="1643285"/>
            </a:xfrm>
            <a:prstGeom prst="rect">
              <a:avLst/>
            </a:prstGeom>
          </p:spPr>
          <p:txBody>
            <a:bodyPr anchor="ctr" rtlCol="false" tIns="50800" lIns="50800" bIns="50800" rIns="50800"/>
            <a:lstStyle/>
            <a:p>
              <a:pPr algn="ctr">
                <a:lnSpc>
                  <a:spcPts val="2200"/>
                </a:lnSpc>
              </a:pPr>
            </a:p>
          </p:txBody>
        </p:sp>
      </p:grpSp>
      <p:grpSp>
        <p:nvGrpSpPr>
          <p:cNvPr name="Group 6" id="6"/>
          <p:cNvGrpSpPr/>
          <p:nvPr/>
        </p:nvGrpSpPr>
        <p:grpSpPr>
          <a:xfrm rot="0">
            <a:off x="1461839" y="2464467"/>
            <a:ext cx="15145414" cy="6649206"/>
            <a:chOff x="0" y="0"/>
            <a:chExt cx="3615214" cy="1587167"/>
          </a:xfrm>
        </p:grpSpPr>
        <p:sp>
          <p:nvSpPr>
            <p:cNvPr name="Freeform 7" id="7"/>
            <p:cNvSpPr/>
            <p:nvPr/>
          </p:nvSpPr>
          <p:spPr>
            <a:xfrm flipH="false" flipV="false" rot="0">
              <a:off x="0" y="0"/>
              <a:ext cx="3615214" cy="1587167"/>
            </a:xfrm>
            <a:custGeom>
              <a:avLst/>
              <a:gdLst/>
              <a:ahLst/>
              <a:cxnLst/>
              <a:rect r="r" b="b" t="t" l="l"/>
              <a:pathLst>
                <a:path h="1587167" w="3615214">
                  <a:moveTo>
                    <a:pt x="26070" y="0"/>
                  </a:moveTo>
                  <a:lnTo>
                    <a:pt x="3589144" y="0"/>
                  </a:lnTo>
                  <a:cubicBezTo>
                    <a:pt x="3603542" y="0"/>
                    <a:pt x="3615214" y="11672"/>
                    <a:pt x="3615214" y="26070"/>
                  </a:cubicBezTo>
                  <a:lnTo>
                    <a:pt x="3615214" y="1561097"/>
                  </a:lnTo>
                  <a:cubicBezTo>
                    <a:pt x="3615214" y="1568012"/>
                    <a:pt x="3612467" y="1574643"/>
                    <a:pt x="3607579" y="1579532"/>
                  </a:cubicBezTo>
                  <a:cubicBezTo>
                    <a:pt x="3602689" y="1584421"/>
                    <a:pt x="3596058" y="1587167"/>
                    <a:pt x="3589144" y="1587167"/>
                  </a:cubicBezTo>
                  <a:lnTo>
                    <a:pt x="26070" y="1587167"/>
                  </a:lnTo>
                  <a:cubicBezTo>
                    <a:pt x="11672" y="1587167"/>
                    <a:pt x="0" y="1575495"/>
                    <a:pt x="0" y="1561097"/>
                  </a:cubicBezTo>
                  <a:lnTo>
                    <a:pt x="0" y="26070"/>
                  </a:lnTo>
                  <a:cubicBezTo>
                    <a:pt x="0" y="11672"/>
                    <a:pt x="11672" y="0"/>
                    <a:pt x="26070" y="0"/>
                  </a:cubicBezTo>
                  <a:close/>
                </a:path>
              </a:pathLst>
            </a:custGeom>
            <a:solidFill>
              <a:srgbClr val="FFFFFF"/>
            </a:solidFill>
          </p:spPr>
        </p:sp>
        <p:sp>
          <p:nvSpPr>
            <p:cNvPr name="TextBox 8" id="8"/>
            <p:cNvSpPr txBox="true"/>
            <p:nvPr/>
          </p:nvSpPr>
          <p:spPr>
            <a:xfrm>
              <a:off x="0" y="9525"/>
              <a:ext cx="3615214" cy="1577642"/>
            </a:xfrm>
            <a:prstGeom prst="rect">
              <a:avLst/>
            </a:prstGeom>
          </p:spPr>
          <p:txBody>
            <a:bodyPr anchor="ctr" rtlCol="false" tIns="50800" lIns="50800" bIns="50800" rIns="50800"/>
            <a:lstStyle/>
            <a:p>
              <a:pPr algn="ctr">
                <a:lnSpc>
                  <a:spcPts val="2200"/>
                </a:lnSpc>
              </a:pPr>
            </a:p>
          </p:txBody>
        </p:sp>
      </p:grpSp>
      <p:sp>
        <p:nvSpPr>
          <p:cNvPr name="TextBox 9" id="9"/>
          <p:cNvSpPr txBox="true"/>
          <p:nvPr/>
        </p:nvSpPr>
        <p:spPr>
          <a:xfrm rot="0">
            <a:off x="1707668" y="2980693"/>
            <a:ext cx="14653756" cy="4804559"/>
          </a:xfrm>
          <a:prstGeom prst="rect">
            <a:avLst/>
          </a:prstGeom>
        </p:spPr>
        <p:txBody>
          <a:bodyPr anchor="t" rtlCol="false" tIns="0" lIns="0" bIns="0" rIns="0">
            <a:spAutoFit/>
          </a:bodyPr>
          <a:lstStyle/>
          <a:p>
            <a:pPr algn="l">
              <a:lnSpc>
                <a:spcPts val="6315"/>
              </a:lnSpc>
              <a:spcBef>
                <a:spcPct val="0"/>
              </a:spcBef>
            </a:pPr>
            <a:r>
              <a:rPr lang="en-US" sz="4100">
                <a:solidFill>
                  <a:srgbClr val="290606"/>
                </a:solidFill>
                <a:latin typeface="Telegraf"/>
                <a:ea typeface="Telegraf"/>
                <a:cs typeface="Telegraf"/>
                <a:sym typeface="Telegraf"/>
              </a:rPr>
              <a:t>This project demonstrates a robust two-stage approach</a:t>
            </a:r>
            <a:r>
              <a:rPr lang="en-US" sz="4100">
                <a:solidFill>
                  <a:srgbClr val="290606"/>
                </a:solidFill>
                <a:latin typeface="Telegraf"/>
                <a:ea typeface="Telegraf"/>
                <a:cs typeface="Telegraf"/>
                <a:sym typeface="Telegraf"/>
              </a:rPr>
              <a:t> for road sign detection and classification. YOLOv8 efficiently detects road sign locations, while a custom CNN classifier accurately categorizes them, especially improving the detection of similar directional signs. This hybrid method addresses limitations in using YOLO alone for classification.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DAGcGt6k6vI</dc:identifier>
  <dcterms:modified xsi:type="dcterms:W3CDTF">2011-08-01T06:04:30Z</dcterms:modified>
  <cp:revision>1</cp:revision>
  <dc:title>Green and Orange Vibrant Animated AI and Machine Learning Presentation</dc:title>
</cp:coreProperties>
</file>